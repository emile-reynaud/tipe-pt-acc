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5" r:id="rId4"/>
    <p:sldId id="259" r:id="rId5"/>
    <p:sldId id="260" r:id="rId6"/>
    <p:sldId id="261" r:id="rId7"/>
    <p:sldId id="262" r:id="rId8"/>
    <p:sldId id="277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18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8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862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E2E4F-F386-C4CA-0BC6-00028FA51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3FB56-D488-E334-C298-5AE5D4391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75FDE-0180-23E7-3C75-B5D55E623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F9E79-5FF2-30BE-7FB7-3C5AD7AA2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406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42054"/>
          </a:solidFill>
          <a:ln w="12700">
            <a:solidFill>
              <a:srgbClr val="1420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Régulateur de vitesse adaptatif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boucle de rétroaction PID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274320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un régulateur de </a:t>
            </a:r>
            <a:r>
              <a:rPr lang="en-US" sz="16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</a:t>
            </a: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adaptatif</a:t>
            </a: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</a:t>
            </a: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-t-il,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comment </a:t>
            </a:r>
            <a:r>
              <a:rPr lang="en-US" sz="16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boucle de correction PID se </a:t>
            </a:r>
            <a:r>
              <a:rPr lang="en-US" sz="16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</a:t>
            </a: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-t-</a:t>
            </a:r>
            <a:r>
              <a:rPr lang="en-US" sz="16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</a:t>
            </a:r>
            <a:r>
              <a:rPr lang="en-US" sz="16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?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— Thème : Cycles et boucles  |  Filière PT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candidat : 40296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2560320" cy="4846320"/>
          </a:xfrm>
          <a:prstGeom prst="rect">
            <a:avLst/>
          </a:prstGeom>
          <a:solidFill>
            <a:srgbClr val="172444"/>
          </a:solidFill>
          <a:ln w="254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217920" y="914400"/>
            <a:ext cx="256032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Photo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20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0989DB-F5E5-610A-5536-F2DACBEAEF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58" t="7832" r="258" b="21909"/>
          <a:stretch>
            <a:fillRect/>
          </a:stretch>
        </p:blipFill>
        <p:spPr>
          <a:xfrm rot="5400000">
            <a:off x="5068639" y="2051121"/>
            <a:ext cx="4858882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Ancrage au thème et problématique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114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11480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83464" y="77724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: Cycles et boucles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de rétroaction : mesure → correcteur → actionneur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correction répétés toutes les 50 ms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Itérations de réglage P → PI → PD → PID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777240"/>
            <a:ext cx="4343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4343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626864" y="77724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1143000"/>
            <a:ext cx="4160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Comment un régulateur de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vitesse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adaptatif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fonctionne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-t-il,</a:t>
            </a:r>
            <a:endParaRPr lang="en-US" sz="1600" dirty="0"/>
          </a:p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et comment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boucle de correction PID se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comporte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-t-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elle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8600" y="3246120"/>
            <a:ext cx="8686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28600" y="3246120"/>
            <a:ext cx="8686800" cy="329184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83464" y="324612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Schéma-bloc boucle fermée (notation SI)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4169664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Vc(t)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m/s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5840" y="4462272"/>
            <a:ext cx="384048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389888" y="4197096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389888" y="41970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920240" y="4462272"/>
            <a:ext cx="256032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849904" y="416966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ε(t)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76272" y="4133088"/>
            <a:ext cx="1234440" cy="658368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176272" y="4133088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C(s)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PID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4133088"/>
            <a:ext cx="1280160" cy="658368"/>
          </a:xfrm>
          <a:prstGeom prst="rect">
            <a:avLst/>
          </a:prstGeom>
          <a:solidFill>
            <a:srgbClr val="DCFCE7"/>
          </a:solidFill>
          <a:ln w="19050">
            <a:solidFill>
              <a:srgbClr val="0F766E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617720" y="413308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G(s)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K/(τs+1)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10712" y="4462272"/>
            <a:ext cx="27432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685032" y="4197096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685032" y="41970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15384" y="4462272"/>
            <a:ext cx="356616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941064" y="3959352"/>
            <a:ext cx="0" cy="237744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286112" y="3601731"/>
            <a:ext cx="1353312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286112" y="3601731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U_FF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4462272"/>
            <a:ext cx="32004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217920" y="4133088"/>
            <a:ext cx="1005840" cy="658368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217920" y="413308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223760" y="4462272"/>
            <a:ext cx="59436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7845552" y="431596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v(t)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092439" y="4754880"/>
            <a:ext cx="1" cy="896112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1645920" y="5650992"/>
            <a:ext cx="644652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 flipV="1">
            <a:off x="1645920" y="4727448"/>
            <a:ext cx="0" cy="946555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3383280" y="5148072"/>
            <a:ext cx="1371600" cy="457200"/>
          </a:xfrm>
          <a:prstGeom prst="rect">
            <a:avLst/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3383280" y="51480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Hall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(méthode période)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737360" y="5696712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de retour — mesure v(t)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595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expérimentale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3337560"/>
            <a:ext cx="4251960" cy="149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63440" y="3337560"/>
            <a:ext cx="425196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709160" y="333756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3657600"/>
            <a:ext cx="4069080" cy="11707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 Every + shield ASX00061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 en H L298N → moteur brushed RC390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ultrason HC-SR04 (distance obstacle)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Hall + 3 aimants néodyme (vitesse)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microSD → log CSV temps réel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F39519-0FAB-A74B-4D64-800777BCA2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05" t="18042" r="9447" b="11535"/>
          <a:stretch>
            <a:fillRect/>
          </a:stretch>
        </p:blipFill>
        <p:spPr>
          <a:xfrm>
            <a:off x="228600" y="763311"/>
            <a:ext cx="4251960" cy="31564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5AEBEEC-15E1-38B2-01E8-F289CB54B3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825"/>
          <a:stretch>
            <a:fillRect/>
          </a:stretch>
        </p:blipFill>
        <p:spPr>
          <a:xfrm>
            <a:off x="382424" y="4024675"/>
            <a:ext cx="3993022" cy="249089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A5A50E2-5064-2FA0-6A35-F3B880969D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9418"/>
          <a:stretch>
            <a:fillRect/>
          </a:stretch>
        </p:blipFill>
        <p:spPr>
          <a:xfrm>
            <a:off x="4663440" y="868680"/>
            <a:ext cx="4251961" cy="225084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F4ED7A0-AA5A-C280-FDAD-D7F86450857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052" t="12471" r="23694" b="40262"/>
          <a:stretch>
            <a:fillRect/>
          </a:stretch>
        </p:blipFill>
        <p:spPr>
          <a:xfrm>
            <a:off x="5321015" y="4970106"/>
            <a:ext cx="2936809" cy="17278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du moteur — Pourquoi et comment 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86868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83464" y="77724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identifier le moteur 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PID seul échoue : à consigne atteinte, ε→0 donc u_PID→0, le moteur s'arrête (zone morte sous 76/255)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Necéssité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d’un feedforward,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donc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d’identifier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" y="219456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28600" y="2194560"/>
            <a:ext cx="420624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83464" y="219456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1er ordre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" y="2560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· dv/dt + v(t) = K · u(t)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0040" y="30632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à échelon u=U₀ :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v(t) = K·U₀·(1 − e^(−t/τ))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0" y="2194560"/>
            <a:ext cx="4343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572000" y="2194560"/>
            <a:ext cx="434340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26864" y="219456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graphique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2560320"/>
            <a:ext cx="4160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v∞/U₀  (vitesse de régime / commande)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= t tel que v(t) = 63,2 % × v∞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(propriété : 1−e⁻¹ ≈ 0,632)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28600" y="4297680"/>
            <a:ext cx="4206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28600" y="4297680"/>
            <a:ext cx="420624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83464" y="429768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" y="466344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échelons PWM 40→240, 3 s chacun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v∞ (palier stable) et τ (passage à 63,2%)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v∞/U₀   validé sur tous les échelons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0" y="4297680"/>
            <a:ext cx="4343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572000" y="4297680"/>
            <a:ext cx="434340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626864" y="4297680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identifiés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09160" y="4663440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709160" y="4663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32120" y="4736592"/>
            <a:ext cx="0" cy="402336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596128" y="46817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m/s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96128" y="495604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statique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5285232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09160" y="528523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532120" y="5358384"/>
            <a:ext cx="0" cy="402336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596128" y="53035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96128" y="557784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 de temps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5907024"/>
            <a:ext cx="4069080" cy="5486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709160" y="590702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532120" y="5980176"/>
            <a:ext cx="0" cy="402336"/>
          </a:xfrm>
          <a:prstGeom prst="line">
            <a:avLst/>
          </a:prstGeom>
          <a:noFill/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5596128" y="59253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0,30 → 76/255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96128" y="619963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minimal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09160" y="637326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U_FF = (0.7/1.4+0.3)×255 = 204 PWM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de vitesse — méthode fréquencemétrique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39"/>
            <a:ext cx="3749040" cy="163637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374904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83464" y="7772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122904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Comptage δ d'impulsions Hall sur T=50 ms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aimants → p=πD/N≈0,0873 m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(δ/N)×C/T   δ ∈ 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99212" y="795326"/>
            <a:ext cx="3749040" cy="163637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708356" y="806382"/>
            <a:ext cx="374904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754076" y="79532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Incertitude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81508" y="117405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Δδ = ±1 → Δv = p/T = constante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 = 0,2608/(3×0,050) ≈ 1,74 m/s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Vc=0,70 m/s : Δv/v = 249 %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Inutilisable seule pour le terme 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377440" y="655624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Incertitude Δv vs vitesse — méthode fréquencemétrique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E4CAC74-0119-A1C6-6B29-00FBC1C2F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853" y="2525348"/>
            <a:ext cx="5374534" cy="4030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de vitesse — méthode période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3749040" cy="168551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374904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83464" y="7772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du temps τ entre 2 fronts Hall (ISR)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micros() : 4 µs → Δτ=4 µs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p/τ  avec p=0,0873 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36893" y="786384"/>
            <a:ext cx="3749040" cy="168551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736893" y="786384"/>
            <a:ext cx="374904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791757" y="78638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Incertitude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36894" y="1152144"/>
            <a:ext cx="384047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 ≈ v×Δp/p  (terme géométrique dominant)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Δp/p = 2 mm/87,3 mm ≈ 2,3 % relatif constant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v=0,70 m/s : Δv ≈ 0,016 m/s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×155 plus précise que fréquencemétrique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103120" y="6553297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Incertitude Δv vs vitesse — méthode période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9AF6F7-C9B3-D9F2-8F73-D79DD4F53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666" y="2636679"/>
            <a:ext cx="5262668" cy="39470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régulateur — Feedforward + PID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206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20624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83464" y="77724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du PID pur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démarrage : 76/255 — zone morte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régime : ε→0 ⟹ u_PID→0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sous le seuil → roue libre → re-kick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Oscillation infinie sans terme constant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17720" y="777240"/>
            <a:ext cx="4297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17720" y="777240"/>
            <a:ext cx="429768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672584" y="77724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14300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u(t) = U_FF + Kp·ε + Ki·∫ε dt + Kd·(dε/dt)
</a:t>
            </a: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U_FF = (Vc/K+seuil)×255 = 204 PWM
</a:t>
            </a: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 → maintient la vitesse de régime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→ corrige les écarts résiduels</a:t>
            </a:r>
            <a:endParaRPr lang="en-US" sz="1400" dirty="0"/>
          </a:p>
          <a:p>
            <a:r>
              <a:rPr sz="1400" b="0" dirty="0"/>
              <a:t>
Mode distance (ACC v19) : </a:t>
            </a:r>
            <a:r>
              <a:rPr sz="1400" b="0" dirty="0" err="1"/>
              <a:t>cmd</a:t>
            </a:r>
            <a:r>
              <a:rPr sz="1400" b="0" dirty="0"/>
              <a:t> = </a:t>
            </a:r>
            <a:r>
              <a:rPr sz="1400" b="0" dirty="0" err="1"/>
              <a:t>cmd_vitesse</a:t>
            </a:r>
            <a:r>
              <a:rPr sz="1400" b="0" dirty="0"/>
              <a:t> − 600 × max(0, Dc − d)</a:t>
            </a:r>
          </a:p>
        </p:txBody>
      </p:sp>
      <p:sp>
        <p:nvSpPr>
          <p:cNvPr id="13" name="Shape 11"/>
          <p:cNvSpPr/>
          <p:nvPr/>
        </p:nvSpPr>
        <p:spPr>
          <a:xfrm>
            <a:off x="228600" y="3383280"/>
            <a:ext cx="8686800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28600" y="3383280"/>
            <a:ext cx="8686800" cy="329184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83464" y="338328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-bloc (notation SI)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" y="4261104"/>
            <a:ext cx="6583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0.7m/s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553712"/>
            <a:ext cx="27432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188720" y="4288536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188720" y="42885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19072" y="4553712"/>
            <a:ext cx="256032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719072" y="42245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75104" y="4224528"/>
            <a:ext cx="1234440" cy="658368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1975104" y="4224528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C(s)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9544" y="4553712"/>
            <a:ext cx="256032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465576" y="4288536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465576" y="42885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723819" y="4069080"/>
            <a:ext cx="6933" cy="219456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063240" y="3721608"/>
            <a:ext cx="137160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063240" y="37216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U_FF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995928" y="4553712"/>
            <a:ext cx="27432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270248" y="4224528"/>
            <a:ext cx="1280160" cy="658368"/>
          </a:xfrm>
          <a:prstGeom prst="rect">
            <a:avLst/>
          </a:prstGeom>
          <a:solidFill>
            <a:srgbClr val="DCFCE7"/>
          </a:solidFill>
          <a:ln w="19050">
            <a:solidFill>
              <a:srgbClr val="0F766E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270248" y="422452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G(s)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K/(τs+1)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550408" y="4553712"/>
            <a:ext cx="27432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5824728" y="4224528"/>
            <a:ext cx="960120" cy="658368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824728" y="4224528"/>
            <a:ext cx="960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84848" y="4553712"/>
            <a:ext cx="64008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7452360" y="440740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v(t)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772400" y="4681728"/>
            <a:ext cx="0" cy="1060704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1453896" y="5742432"/>
            <a:ext cx="6318504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 flipH="1" flipV="1">
            <a:off x="1460828" y="4818888"/>
            <a:ext cx="1" cy="923544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arrow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3291840" y="5239512"/>
            <a:ext cx="1508760" cy="457200"/>
          </a:xfrm>
          <a:prstGeom prst="rect">
            <a:avLst/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3291840" y="523951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Hall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(méthode période)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600200" y="5788152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de retour — mesure v(t)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A8535-AAB2-71C4-A6B4-B3127D851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D10D29-37F0-3DA5-38BC-56F61B35F6AB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1507ED-CAF6-63C2-39BD-ED1F69ED7D0E}"/>
              </a:ext>
            </a:extLst>
          </p:cNvPr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 err="1">
                <a:solidFill>
                  <a:srgbClr val="FFFFFF"/>
                </a:solidFill>
              </a:rPr>
              <a:t>Protocole</a:t>
            </a:r>
            <a:r>
              <a:rPr lang="en-US" sz="2000" b="1" dirty="0">
                <a:solidFill>
                  <a:srgbClr val="FFFFFF"/>
                </a:solidFill>
              </a:rPr>
              <a:t> </a:t>
            </a:r>
            <a:r>
              <a:rPr lang="en-US" sz="2000" b="1" dirty="0" err="1">
                <a:solidFill>
                  <a:srgbClr val="FFFFFF"/>
                </a:solidFill>
              </a:rPr>
              <a:t>expérimental</a:t>
            </a:r>
            <a:r>
              <a:rPr lang="en-US" sz="2000" b="1" dirty="0">
                <a:solidFill>
                  <a:srgbClr val="FFFFFF"/>
                </a:solidFill>
              </a:rPr>
              <a:t> — Acquisition des </a:t>
            </a:r>
            <a:r>
              <a:rPr lang="en-US" sz="2000" b="1" dirty="0" err="1">
                <a:solidFill>
                  <a:srgbClr val="FFFFFF"/>
                </a:solidFill>
              </a:rPr>
              <a:t>courbes</a:t>
            </a:r>
            <a:r>
              <a:rPr lang="en-US" sz="2000" b="1" dirty="0">
                <a:solidFill>
                  <a:srgbClr val="FFFFFF"/>
                </a:solidFill>
              </a:rPr>
              <a:t> P / PI / PD / PID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D30BCAA-D28E-2A97-1DFB-0142E8661A16}"/>
              </a:ext>
            </a:extLst>
          </p:cNvPr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FF005D2-1496-7194-4A2E-9B999429784F}"/>
              </a:ext>
            </a:extLst>
          </p:cNvPr>
          <p:cNvSpPr/>
          <p:nvPr/>
        </p:nvSpPr>
        <p:spPr>
          <a:xfrm>
            <a:off x="78000" y="1528632"/>
            <a:ext cx="2177520" cy="461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7DC0A66-06A8-5207-4A40-BE4A8AA04BC8}"/>
              </a:ext>
            </a:extLst>
          </p:cNvPr>
          <p:cNvSpPr/>
          <p:nvPr/>
        </p:nvSpPr>
        <p:spPr>
          <a:xfrm>
            <a:off x="78000" y="1533702"/>
            <a:ext cx="2177520" cy="32644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EA45561-72E1-354C-A141-B56F4BE879CB}"/>
              </a:ext>
            </a:extLst>
          </p:cNvPr>
          <p:cNvSpPr/>
          <p:nvPr/>
        </p:nvSpPr>
        <p:spPr>
          <a:xfrm>
            <a:off x="88391" y="1528632"/>
            <a:ext cx="2106126" cy="326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①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(0-3s)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46C7A33-BDFE-D3D3-FC66-D666B29569BE}"/>
              </a:ext>
            </a:extLst>
          </p:cNvPr>
          <p:cNvSpPr/>
          <p:nvPr/>
        </p:nvSpPr>
        <p:spPr>
          <a:xfrm>
            <a:off x="105057" y="1886706"/>
            <a:ext cx="2150463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Kick-start </a:t>
            </a:r>
            <a:r>
              <a:rPr lang="en-US" sz="1400" b="1" dirty="0" err="1">
                <a:solidFill>
                  <a:schemeClr val="accent2">
                    <a:lumMod val="75000"/>
                  </a:schemeClr>
                </a:solidFill>
              </a:rPr>
              <a:t>moteur</a:t>
            </a:r>
            <a:endParaRPr lang="en-US" sz="14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400" dirty="0">
                <a:solidFill>
                  <a:srgbClr val="28283C"/>
                </a:solidFill>
              </a:rPr>
              <a:t>PWM </a:t>
            </a:r>
            <a:r>
              <a:rPr lang="en-US" sz="1400" dirty="0" err="1">
                <a:solidFill>
                  <a:srgbClr val="28283C"/>
                </a:solidFill>
              </a:rPr>
              <a:t>selon</a:t>
            </a:r>
            <a:r>
              <a:rPr lang="en-US" sz="1400" dirty="0">
                <a:solidFill>
                  <a:srgbClr val="28283C"/>
                </a:solidFill>
              </a:rPr>
              <a:t> </a:t>
            </a:r>
            <a:r>
              <a:rPr lang="en-US" sz="1400" dirty="0" err="1">
                <a:solidFill>
                  <a:srgbClr val="28283C"/>
                </a:solidFill>
              </a:rPr>
              <a:t>correcteur</a:t>
            </a:r>
            <a:r>
              <a:rPr lang="en-US" sz="1400" dirty="0">
                <a:solidFill>
                  <a:srgbClr val="28283C"/>
                </a:solidFill>
              </a:rPr>
              <a:t> :</a:t>
            </a:r>
          </a:p>
          <a:p>
            <a:r>
              <a:rPr lang="en-US" sz="1100" dirty="0">
                <a:solidFill>
                  <a:srgbClr val="28283C"/>
                </a:solidFill>
              </a:rPr>
              <a:t>P / PI : 209 PWM / 250 </a:t>
            </a:r>
            <a:r>
              <a:rPr lang="en-US" sz="1100" dirty="0" err="1">
                <a:solidFill>
                  <a:srgbClr val="28283C"/>
                </a:solidFill>
              </a:rPr>
              <a:t>ms</a:t>
            </a:r>
            <a:endParaRPr lang="en-US" sz="1100" dirty="0">
              <a:solidFill>
                <a:srgbClr val="28283C"/>
              </a:solidFill>
            </a:endParaRPr>
          </a:p>
          <a:p>
            <a:r>
              <a:rPr lang="en-US" sz="1100" dirty="0">
                <a:solidFill>
                  <a:srgbClr val="28283C"/>
                </a:solidFill>
              </a:rPr>
              <a:t>PD : 255 PWM / 800 </a:t>
            </a:r>
            <a:r>
              <a:rPr lang="en-US" sz="1100" dirty="0" err="1">
                <a:solidFill>
                  <a:srgbClr val="28283C"/>
                </a:solidFill>
              </a:rPr>
              <a:t>ms</a:t>
            </a:r>
            <a:endParaRPr lang="en-US" sz="1100" dirty="0">
              <a:solidFill>
                <a:srgbClr val="28283C"/>
              </a:solidFill>
            </a:endParaRPr>
          </a:p>
          <a:p>
            <a:r>
              <a:rPr lang="en-US" sz="1100" dirty="0">
                <a:solidFill>
                  <a:srgbClr val="28283C"/>
                </a:solidFill>
              </a:rPr>
              <a:t>PID : 153 PWM / 1 000 </a:t>
            </a:r>
            <a:r>
              <a:rPr lang="en-US" sz="1100" dirty="0" err="1">
                <a:solidFill>
                  <a:srgbClr val="28283C"/>
                </a:solidFill>
              </a:rPr>
              <a:t>ms</a:t>
            </a:r>
            <a:endParaRPr lang="en-US" sz="1100" dirty="0">
              <a:solidFill>
                <a:srgbClr val="28283C"/>
              </a:solidFill>
            </a:endParaRPr>
          </a:p>
          <a:p>
            <a:endParaRPr lang="en-US" sz="1400" dirty="0">
              <a:solidFill>
                <a:srgbClr val="28283C"/>
              </a:solidFill>
            </a:endParaRPr>
          </a:p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Objectif</a:t>
            </a:r>
          </a:p>
          <a:p>
            <a:r>
              <a:rPr lang="en-US" sz="1400" dirty="0" err="1">
                <a:solidFill>
                  <a:srgbClr val="28283C"/>
                </a:solidFill>
              </a:rPr>
              <a:t>Franchir</a:t>
            </a:r>
            <a:r>
              <a:rPr lang="en-US" sz="1400" dirty="0">
                <a:solidFill>
                  <a:srgbClr val="28283C"/>
                </a:solidFill>
              </a:rPr>
              <a:t> la zone </a:t>
            </a:r>
            <a:r>
              <a:rPr lang="en-US" sz="1400" dirty="0" err="1">
                <a:solidFill>
                  <a:srgbClr val="28283C"/>
                </a:solidFill>
              </a:rPr>
              <a:t>morte</a:t>
            </a:r>
            <a:endParaRPr lang="en-US" sz="1400" dirty="0">
              <a:solidFill>
                <a:srgbClr val="28283C"/>
              </a:solidFill>
            </a:endParaRPr>
          </a:p>
          <a:p>
            <a:r>
              <a:rPr lang="en-US" sz="1400" dirty="0">
                <a:solidFill>
                  <a:srgbClr val="28283C"/>
                </a:solidFill>
              </a:rPr>
              <a:t>(</a:t>
            </a:r>
            <a:r>
              <a:rPr lang="en-US" sz="1400" dirty="0" err="1">
                <a:solidFill>
                  <a:srgbClr val="28283C"/>
                </a:solidFill>
              </a:rPr>
              <a:t>seuil</a:t>
            </a:r>
            <a:r>
              <a:rPr lang="en-US" sz="1400" dirty="0">
                <a:solidFill>
                  <a:srgbClr val="28283C"/>
                </a:solidFill>
              </a:rPr>
              <a:t> = 76 PWM = 0,30 × 255)</a:t>
            </a:r>
          </a:p>
          <a:p>
            <a:endParaRPr lang="en-US" sz="1400" dirty="0">
              <a:solidFill>
                <a:srgbClr val="28283C"/>
              </a:solidFill>
            </a:endParaRPr>
          </a:p>
          <a:p>
            <a:r>
              <a:rPr lang="en-US" sz="1400" b="1" dirty="0" err="1">
                <a:solidFill>
                  <a:schemeClr val="accent2">
                    <a:lumMod val="75000"/>
                  </a:schemeClr>
                </a:solidFill>
              </a:rPr>
              <a:t>Mesure</a:t>
            </a:r>
            <a:endParaRPr lang="en-US" sz="14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400" dirty="0" err="1">
                <a:solidFill>
                  <a:srgbClr val="28283C"/>
                </a:solidFill>
              </a:rPr>
              <a:t>v_mesurée</a:t>
            </a:r>
            <a:r>
              <a:rPr lang="en-US" sz="1400" dirty="0">
                <a:solidFill>
                  <a:srgbClr val="28283C"/>
                </a:solidFill>
              </a:rPr>
              <a:t> &lt; 0,05 m/s → roue</a:t>
            </a:r>
          </a:p>
          <a:p>
            <a:r>
              <a:rPr lang="en-US" sz="1400" dirty="0">
                <a:solidFill>
                  <a:srgbClr val="28283C"/>
                </a:solidFill>
              </a:rPr>
              <a:t>quasi </a:t>
            </a:r>
            <a:r>
              <a:rPr lang="en-US" sz="1400" dirty="0" err="1">
                <a:solidFill>
                  <a:srgbClr val="28283C"/>
                </a:solidFill>
              </a:rPr>
              <a:t>arrêtée</a:t>
            </a:r>
            <a:r>
              <a:rPr lang="en-US" sz="1400" dirty="0">
                <a:solidFill>
                  <a:srgbClr val="28283C"/>
                </a:solidFill>
              </a:rPr>
              <a:t> avant kick</a:t>
            </a:r>
          </a:p>
          <a:p>
            <a:pPr>
              <a:spcAft>
                <a:spcPts val="500"/>
              </a:spcAft>
              <a:buSzPct val="100000"/>
            </a:pPr>
            <a:endParaRPr lang="en-US" sz="1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256ED5E-BE4B-D871-0040-F7861050FA64}"/>
              </a:ext>
            </a:extLst>
          </p:cNvPr>
          <p:cNvSpPr/>
          <p:nvPr/>
        </p:nvSpPr>
        <p:spPr>
          <a:xfrm>
            <a:off x="60000" y="709440"/>
            <a:ext cx="9024000" cy="720000"/>
          </a:xfrm>
          <a:prstGeom prst="rect">
            <a:avLst/>
          </a:prstGeom>
          <a:solidFill>
            <a:srgbClr val="FFFFFF"/>
          </a:solidFill>
          <a:ln w="6000">
            <a:solidFill>
              <a:srgbClr val="C8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80E77AE-0C71-6BA9-0157-F66BAE784B06}"/>
              </a:ext>
            </a:extLst>
          </p:cNvPr>
          <p:cNvSpPr/>
          <p:nvPr/>
        </p:nvSpPr>
        <p:spPr>
          <a:xfrm>
            <a:off x="85000" y="779440"/>
            <a:ext cx="759200" cy="38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C96630-EBA4-54F5-97D1-4F2D1C002B30}"/>
              </a:ext>
            </a:extLst>
          </p:cNvPr>
          <p:cNvSpPr txBox="1"/>
          <p:nvPr/>
        </p:nvSpPr>
        <p:spPr>
          <a:xfrm>
            <a:off x="54782" y="786384"/>
            <a:ext cx="839200" cy="3847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Calibri"/>
              </a:rPr>
              <a:t>Démarrage</a:t>
            </a:r>
            <a:r>
              <a:rPr sz="950" b="1" dirty="0">
                <a:solidFill>
                  <a:srgbClr val="FFFFFF"/>
                </a:solidFill>
                <a:latin typeface="Calibri"/>
              </a:rPr>
              <a:t>
0–3 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99B6A8-A92D-25DB-A61F-2140BC6E9526}"/>
              </a:ext>
            </a:extLst>
          </p:cNvPr>
          <p:cNvSpPr/>
          <p:nvPr/>
        </p:nvSpPr>
        <p:spPr>
          <a:xfrm>
            <a:off x="854200" y="779440"/>
            <a:ext cx="2297600" cy="3800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89FC7E-E5AC-6FA5-C936-3F70E6F3B86D}"/>
              </a:ext>
            </a:extLst>
          </p:cNvPr>
          <p:cNvSpPr txBox="1"/>
          <p:nvPr/>
        </p:nvSpPr>
        <p:spPr>
          <a:xfrm>
            <a:off x="869200" y="789440"/>
            <a:ext cx="2277600" cy="365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Mode vitesse
3–12 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EDA17A-8BEA-690F-967D-D6D7A7524F4C}"/>
              </a:ext>
            </a:extLst>
          </p:cNvPr>
          <p:cNvSpPr/>
          <p:nvPr/>
        </p:nvSpPr>
        <p:spPr>
          <a:xfrm>
            <a:off x="3161800" y="779440"/>
            <a:ext cx="3836000" cy="380000"/>
          </a:xfrm>
          <a:prstGeom prst="rect">
            <a:avLst/>
          </a:prstGeom>
          <a:solidFill>
            <a:srgbClr val="15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1F37EE-5540-D35F-4903-93CE2E696E93}"/>
              </a:ext>
            </a:extLst>
          </p:cNvPr>
          <p:cNvSpPr txBox="1"/>
          <p:nvPr/>
        </p:nvSpPr>
        <p:spPr>
          <a:xfrm>
            <a:off x="3176800" y="789440"/>
            <a:ext cx="3816000" cy="365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Mode distance
(ACC actif)
12–27 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8F3BB30-C6C6-F6AD-C3EA-BD82417C97AE}"/>
              </a:ext>
            </a:extLst>
          </p:cNvPr>
          <p:cNvSpPr/>
          <p:nvPr/>
        </p:nvSpPr>
        <p:spPr>
          <a:xfrm>
            <a:off x="7007800" y="779440"/>
            <a:ext cx="2041200" cy="3800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135C89-9656-31BB-A06E-A6A90232AF63}"/>
              </a:ext>
            </a:extLst>
          </p:cNvPr>
          <p:cNvSpPr txBox="1"/>
          <p:nvPr/>
        </p:nvSpPr>
        <p:spPr>
          <a:xfrm>
            <a:off x="7022800" y="789440"/>
            <a:ext cx="2021200" cy="365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Retour vitesse
27–35 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CD9F392-3E7C-03E4-6CCC-2DD317B2A4B3}"/>
              </a:ext>
            </a:extLst>
          </p:cNvPr>
          <p:cNvSpPr/>
          <p:nvPr/>
        </p:nvSpPr>
        <p:spPr>
          <a:xfrm>
            <a:off x="78000" y="1167440"/>
            <a:ext cx="14000" cy="3500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7AEF84-D7E4-2D4E-1705-587108DEA7F7}"/>
              </a:ext>
            </a:extLst>
          </p:cNvPr>
          <p:cNvSpPr txBox="1"/>
          <p:nvPr/>
        </p:nvSpPr>
        <p:spPr>
          <a:xfrm>
            <a:off x="-35480" y="1166340"/>
            <a:ext cx="352472" cy="233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dirty="0">
                <a:solidFill>
                  <a:srgbClr val="464646"/>
                </a:solidFill>
                <a:latin typeface="Calibri"/>
              </a:rPr>
              <a:t>0 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20480E-03FE-6078-4265-43D00CAA7559}"/>
              </a:ext>
            </a:extLst>
          </p:cNvPr>
          <p:cNvSpPr/>
          <p:nvPr/>
        </p:nvSpPr>
        <p:spPr>
          <a:xfrm>
            <a:off x="847200" y="1167440"/>
            <a:ext cx="14000" cy="3500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BFECA9-C287-654A-26C3-D4252182B4C7}"/>
              </a:ext>
            </a:extLst>
          </p:cNvPr>
          <p:cNvSpPr txBox="1"/>
          <p:nvPr/>
        </p:nvSpPr>
        <p:spPr>
          <a:xfrm>
            <a:off x="733720" y="1166340"/>
            <a:ext cx="352472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dirty="0">
                <a:solidFill>
                  <a:srgbClr val="464646"/>
                </a:solidFill>
                <a:latin typeface="Calibri"/>
              </a:rPr>
              <a:t>3 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3A06B7B-EB91-C570-157F-AA277B23E1EA}"/>
              </a:ext>
            </a:extLst>
          </p:cNvPr>
          <p:cNvSpPr/>
          <p:nvPr/>
        </p:nvSpPr>
        <p:spPr>
          <a:xfrm>
            <a:off x="3154800" y="1167440"/>
            <a:ext cx="14000" cy="3500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8B22F3-A67D-656B-4549-3A7FC17F646C}"/>
              </a:ext>
            </a:extLst>
          </p:cNvPr>
          <p:cNvSpPr txBox="1"/>
          <p:nvPr/>
        </p:nvSpPr>
        <p:spPr>
          <a:xfrm>
            <a:off x="2987980" y="1173960"/>
            <a:ext cx="495600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dirty="0">
                <a:solidFill>
                  <a:srgbClr val="464646"/>
                </a:solidFill>
                <a:latin typeface="Calibri"/>
              </a:rPr>
              <a:t>12 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C353DA9-2EED-42CF-A1EB-9EBD8A7D8B60}"/>
              </a:ext>
            </a:extLst>
          </p:cNvPr>
          <p:cNvSpPr/>
          <p:nvPr/>
        </p:nvSpPr>
        <p:spPr>
          <a:xfrm>
            <a:off x="7000800" y="1167440"/>
            <a:ext cx="14000" cy="3500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C49209-A06A-B4B9-DFFE-5870A20D4A46}"/>
              </a:ext>
            </a:extLst>
          </p:cNvPr>
          <p:cNvSpPr txBox="1"/>
          <p:nvPr/>
        </p:nvSpPr>
        <p:spPr>
          <a:xfrm>
            <a:off x="6849220" y="1166340"/>
            <a:ext cx="453600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dirty="0">
                <a:solidFill>
                  <a:srgbClr val="464646"/>
                </a:solidFill>
                <a:latin typeface="Calibri"/>
              </a:rPr>
              <a:t>27 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34925C-FF03-ED3C-77C0-ABDA8E765069}"/>
              </a:ext>
            </a:extLst>
          </p:cNvPr>
          <p:cNvSpPr/>
          <p:nvPr/>
        </p:nvSpPr>
        <p:spPr>
          <a:xfrm>
            <a:off x="9052000" y="1167440"/>
            <a:ext cx="14000" cy="3500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584CFD-7711-0300-477A-3E28FBE99F33}"/>
              </a:ext>
            </a:extLst>
          </p:cNvPr>
          <p:cNvSpPr txBox="1"/>
          <p:nvPr/>
        </p:nvSpPr>
        <p:spPr>
          <a:xfrm>
            <a:off x="8741120" y="1052040"/>
            <a:ext cx="453600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dirty="0">
                <a:solidFill>
                  <a:srgbClr val="464646"/>
                </a:solidFill>
                <a:latin typeface="Calibri"/>
              </a:rPr>
              <a:t>35 s</a:t>
            </a:r>
          </a:p>
        </p:txBody>
      </p:sp>
      <p:sp>
        <p:nvSpPr>
          <p:cNvPr id="70" name="Shape 3">
            <a:extLst>
              <a:ext uri="{FF2B5EF4-FFF2-40B4-BE49-F238E27FC236}">
                <a16:creationId xmlns:a16="http://schemas.microsoft.com/office/drawing/2014/main" id="{DB2879C2-286A-A91F-3A33-A0C6B1F2D5C8}"/>
              </a:ext>
            </a:extLst>
          </p:cNvPr>
          <p:cNvSpPr/>
          <p:nvPr/>
        </p:nvSpPr>
        <p:spPr>
          <a:xfrm>
            <a:off x="2328068" y="1528632"/>
            <a:ext cx="2177520" cy="461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1" name="Shape 4">
            <a:extLst>
              <a:ext uri="{FF2B5EF4-FFF2-40B4-BE49-F238E27FC236}">
                <a16:creationId xmlns:a16="http://schemas.microsoft.com/office/drawing/2014/main" id="{CC613EB6-2D5D-A1DD-F3D2-AC4203241693}"/>
              </a:ext>
            </a:extLst>
          </p:cNvPr>
          <p:cNvSpPr/>
          <p:nvPr/>
        </p:nvSpPr>
        <p:spPr>
          <a:xfrm>
            <a:off x="2328068" y="1533702"/>
            <a:ext cx="2177520" cy="32644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Text 5">
            <a:extLst>
              <a:ext uri="{FF2B5EF4-FFF2-40B4-BE49-F238E27FC236}">
                <a16:creationId xmlns:a16="http://schemas.microsoft.com/office/drawing/2014/main" id="{DC2051BB-96C7-FB75-711D-F3CE5526EB2E}"/>
              </a:ext>
            </a:extLst>
          </p:cNvPr>
          <p:cNvSpPr/>
          <p:nvPr/>
        </p:nvSpPr>
        <p:spPr>
          <a:xfrm>
            <a:off x="2338459" y="1528632"/>
            <a:ext cx="2106126" cy="326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②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(3-12s)</a:t>
            </a:r>
            <a:endParaRPr lang="en-US" sz="1200" dirty="0"/>
          </a:p>
        </p:txBody>
      </p:sp>
      <p:sp>
        <p:nvSpPr>
          <p:cNvPr id="73" name="Shape 3">
            <a:extLst>
              <a:ext uri="{FF2B5EF4-FFF2-40B4-BE49-F238E27FC236}">
                <a16:creationId xmlns:a16="http://schemas.microsoft.com/office/drawing/2014/main" id="{C1B87B88-777F-0502-7F92-C91F3A2D62D4}"/>
              </a:ext>
            </a:extLst>
          </p:cNvPr>
          <p:cNvSpPr/>
          <p:nvPr/>
        </p:nvSpPr>
        <p:spPr>
          <a:xfrm>
            <a:off x="4592089" y="1528632"/>
            <a:ext cx="2152221" cy="461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4" name="Shape 4">
            <a:extLst>
              <a:ext uri="{FF2B5EF4-FFF2-40B4-BE49-F238E27FC236}">
                <a16:creationId xmlns:a16="http://schemas.microsoft.com/office/drawing/2014/main" id="{2266CA5B-F704-7E0C-E9A6-E4DEAD6278AB}"/>
              </a:ext>
            </a:extLst>
          </p:cNvPr>
          <p:cNvSpPr/>
          <p:nvPr/>
        </p:nvSpPr>
        <p:spPr>
          <a:xfrm>
            <a:off x="4592089" y="1533702"/>
            <a:ext cx="2152221" cy="32644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accent5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Text 5">
            <a:extLst>
              <a:ext uri="{FF2B5EF4-FFF2-40B4-BE49-F238E27FC236}">
                <a16:creationId xmlns:a16="http://schemas.microsoft.com/office/drawing/2014/main" id="{D27E49F5-9B1B-8EA7-06AF-D9FE33B7B6EB}"/>
              </a:ext>
            </a:extLst>
          </p:cNvPr>
          <p:cNvSpPr/>
          <p:nvPr/>
        </p:nvSpPr>
        <p:spPr>
          <a:xfrm>
            <a:off x="4572000" y="1528632"/>
            <a:ext cx="2245266" cy="326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③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distance (12-27s)</a:t>
            </a:r>
            <a:endParaRPr lang="en-US" sz="1200" dirty="0"/>
          </a:p>
        </p:txBody>
      </p:sp>
      <p:sp>
        <p:nvSpPr>
          <p:cNvPr id="76" name="Shape 3">
            <a:extLst>
              <a:ext uri="{FF2B5EF4-FFF2-40B4-BE49-F238E27FC236}">
                <a16:creationId xmlns:a16="http://schemas.microsoft.com/office/drawing/2014/main" id="{3CD7843D-1B9F-CFA8-3855-4DA0D744ECF2}"/>
              </a:ext>
            </a:extLst>
          </p:cNvPr>
          <p:cNvSpPr/>
          <p:nvPr/>
        </p:nvSpPr>
        <p:spPr>
          <a:xfrm>
            <a:off x="6849220" y="1528632"/>
            <a:ext cx="2234780" cy="4619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7" name="Shape 4">
            <a:extLst>
              <a:ext uri="{FF2B5EF4-FFF2-40B4-BE49-F238E27FC236}">
                <a16:creationId xmlns:a16="http://schemas.microsoft.com/office/drawing/2014/main" id="{03C95753-CC72-0A4E-E7A0-5CA5776FB93F}"/>
              </a:ext>
            </a:extLst>
          </p:cNvPr>
          <p:cNvSpPr/>
          <p:nvPr/>
        </p:nvSpPr>
        <p:spPr>
          <a:xfrm>
            <a:off x="6849220" y="1533702"/>
            <a:ext cx="2234780" cy="32644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Text 5">
            <a:extLst>
              <a:ext uri="{FF2B5EF4-FFF2-40B4-BE49-F238E27FC236}">
                <a16:creationId xmlns:a16="http://schemas.microsoft.com/office/drawing/2014/main" id="{A494A200-E8D2-5D14-9EAF-09FF2CA30059}"/>
              </a:ext>
            </a:extLst>
          </p:cNvPr>
          <p:cNvSpPr/>
          <p:nvPr/>
        </p:nvSpPr>
        <p:spPr>
          <a:xfrm>
            <a:off x="6859610" y="1528632"/>
            <a:ext cx="2161509" cy="326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(27-35s)</a:t>
            </a:r>
            <a:endParaRPr lang="en-US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5EE2C44-A93A-39AF-7ED8-D81F05E19664}"/>
              </a:ext>
            </a:extLst>
          </p:cNvPr>
          <p:cNvSpPr txBox="1"/>
          <p:nvPr/>
        </p:nvSpPr>
        <p:spPr>
          <a:xfrm>
            <a:off x="2338459" y="1886706"/>
            <a:ext cx="2272038" cy="23083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Consigne</a:t>
            </a:r>
            <a:r>
              <a:rPr sz="12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: </a:t>
            </a:r>
            <a:r>
              <a:rPr sz="1200" b="1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Vc</a:t>
            </a:r>
            <a:r>
              <a:rPr sz="12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= 0,70 m/s</a:t>
            </a:r>
          </a:p>
          <a:p>
            <a:r>
              <a:rPr sz="1200" b="0" dirty="0" err="1">
                <a:solidFill>
                  <a:srgbClr val="28283C"/>
                </a:solidFill>
                <a:latin typeface="Calibri"/>
              </a:rPr>
              <a:t>Aucun</a:t>
            </a:r>
            <a:r>
              <a:rPr sz="1200" b="0" dirty="0">
                <a:solidFill>
                  <a:srgbClr val="28283C"/>
                </a:solidFill>
                <a:latin typeface="Calibri"/>
              </a:rPr>
              <a:t> obstacle (d = −1)</a:t>
            </a:r>
          </a:p>
          <a:p>
            <a:endParaRPr sz="1200" b="0" dirty="0">
              <a:solidFill>
                <a:srgbClr val="28283C"/>
              </a:solidFill>
              <a:latin typeface="Calibri"/>
            </a:endParaRPr>
          </a:p>
          <a:p>
            <a:r>
              <a:rPr sz="1200" b="1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Critères</a:t>
            </a:r>
            <a:r>
              <a:rPr sz="12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1200" b="1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observés</a:t>
            </a:r>
            <a:endParaRPr sz="1200" b="1" dirty="0">
              <a:solidFill>
                <a:schemeClr val="accent6">
                  <a:lumMod val="75000"/>
                </a:schemeClr>
              </a:solidFill>
              <a:latin typeface="Calibri"/>
            </a:endParaRPr>
          </a:p>
          <a:p>
            <a:r>
              <a:rPr sz="1200" b="0" dirty="0">
                <a:solidFill>
                  <a:srgbClr val="28283C"/>
                </a:solidFill>
                <a:latin typeface="Calibri"/>
              </a:rPr>
              <a:t>  </a:t>
            </a:r>
            <a:r>
              <a:rPr sz="1200" b="0" dirty="0" err="1">
                <a:solidFill>
                  <a:srgbClr val="28283C"/>
                </a:solidFill>
                <a:latin typeface="Calibri"/>
              </a:rPr>
              <a:t>Erreur</a:t>
            </a:r>
            <a:r>
              <a:rPr sz="1200" b="0" dirty="0">
                <a:solidFill>
                  <a:srgbClr val="28283C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28283C"/>
                </a:solidFill>
                <a:latin typeface="Calibri"/>
              </a:rPr>
              <a:t>statique</a:t>
            </a:r>
            <a:r>
              <a:rPr sz="1200" b="0" dirty="0">
                <a:solidFill>
                  <a:srgbClr val="28283C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28283C"/>
                </a:solidFill>
                <a:latin typeface="Calibri"/>
              </a:rPr>
              <a:t>en</a:t>
            </a:r>
            <a:r>
              <a:rPr sz="1200" b="0" dirty="0">
                <a:solidFill>
                  <a:srgbClr val="28283C"/>
                </a:solidFill>
                <a:latin typeface="Calibri"/>
              </a:rPr>
              <a:t> régime</a:t>
            </a:r>
          </a:p>
          <a:p>
            <a:r>
              <a:rPr sz="1200" b="0" dirty="0">
                <a:solidFill>
                  <a:srgbClr val="28283C"/>
                </a:solidFill>
                <a:latin typeface="Calibri"/>
              </a:rPr>
              <a:t>  </a:t>
            </a:r>
            <a:r>
              <a:rPr sz="1200" b="0" dirty="0" err="1">
                <a:solidFill>
                  <a:srgbClr val="28283C"/>
                </a:solidFill>
                <a:latin typeface="Calibri"/>
              </a:rPr>
              <a:t>Dépassement</a:t>
            </a:r>
            <a:r>
              <a:rPr sz="1200" b="0" dirty="0">
                <a:solidFill>
                  <a:srgbClr val="28283C"/>
                </a:solidFill>
                <a:latin typeface="Calibri"/>
              </a:rPr>
              <a:t> au </a:t>
            </a:r>
            <a:r>
              <a:rPr sz="1200" b="0" dirty="0" err="1">
                <a:solidFill>
                  <a:srgbClr val="28283C"/>
                </a:solidFill>
                <a:latin typeface="Calibri"/>
              </a:rPr>
              <a:t>démarrage</a:t>
            </a:r>
            <a:endParaRPr sz="1200" b="0" dirty="0">
              <a:solidFill>
                <a:srgbClr val="28283C"/>
              </a:solidFill>
              <a:latin typeface="Calibri"/>
            </a:endParaRPr>
          </a:p>
          <a:p>
            <a:r>
              <a:rPr sz="1200" b="0" dirty="0">
                <a:solidFill>
                  <a:srgbClr val="28283C"/>
                </a:solidFill>
                <a:latin typeface="Calibri"/>
              </a:rPr>
              <a:t>  tr5% = temps pour </a:t>
            </a:r>
            <a:r>
              <a:rPr sz="1200" b="0" dirty="0" err="1">
                <a:solidFill>
                  <a:srgbClr val="28283C"/>
                </a:solidFill>
                <a:latin typeface="Calibri"/>
              </a:rPr>
              <a:t>entrer</a:t>
            </a:r>
            <a:endParaRPr sz="1200" b="0" dirty="0">
              <a:solidFill>
                <a:srgbClr val="28283C"/>
              </a:solidFill>
              <a:latin typeface="Calibri"/>
            </a:endParaRPr>
          </a:p>
          <a:p>
            <a:r>
              <a:rPr sz="1200" b="0" dirty="0">
                <a:solidFill>
                  <a:srgbClr val="28283C"/>
                </a:solidFill>
                <a:latin typeface="Calibri"/>
              </a:rPr>
              <a:t>    dans la </a:t>
            </a:r>
            <a:r>
              <a:rPr sz="1200" b="0" dirty="0" err="1">
                <a:solidFill>
                  <a:srgbClr val="28283C"/>
                </a:solidFill>
                <a:latin typeface="Calibri"/>
              </a:rPr>
              <a:t>bande</a:t>
            </a:r>
            <a:r>
              <a:rPr sz="1200" b="0" dirty="0">
                <a:solidFill>
                  <a:srgbClr val="28283C"/>
                </a:solidFill>
                <a:latin typeface="Calibri"/>
              </a:rPr>
              <a:t> ±5 % de </a:t>
            </a:r>
            <a:r>
              <a:rPr sz="1200" b="0" dirty="0" err="1">
                <a:solidFill>
                  <a:srgbClr val="28283C"/>
                </a:solidFill>
                <a:latin typeface="Calibri"/>
              </a:rPr>
              <a:t>Vc</a:t>
            </a:r>
            <a:endParaRPr sz="1200" b="0" dirty="0">
              <a:solidFill>
                <a:srgbClr val="28283C"/>
              </a:solidFill>
              <a:latin typeface="Calibri"/>
            </a:endParaRPr>
          </a:p>
          <a:p>
            <a:r>
              <a:rPr sz="1200" b="0" dirty="0">
                <a:solidFill>
                  <a:srgbClr val="28283C"/>
                </a:solidFill>
                <a:latin typeface="Calibri"/>
              </a:rPr>
              <a:t>  Oscillations de </a:t>
            </a:r>
            <a:r>
              <a:rPr sz="1200" b="0" dirty="0" err="1">
                <a:solidFill>
                  <a:srgbClr val="28283C"/>
                </a:solidFill>
                <a:latin typeface="Calibri"/>
              </a:rPr>
              <a:t>commande</a:t>
            </a:r>
            <a:endParaRPr sz="1200" b="0" dirty="0">
              <a:solidFill>
                <a:srgbClr val="28283C"/>
              </a:solidFill>
              <a:latin typeface="Calibri"/>
            </a:endParaRPr>
          </a:p>
          <a:p>
            <a:endParaRPr sz="1200" b="0" dirty="0">
              <a:solidFill>
                <a:srgbClr val="28283C"/>
              </a:solidFill>
              <a:latin typeface="Calibri"/>
            </a:endParaRPr>
          </a:p>
          <a:p>
            <a:r>
              <a:rPr sz="12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Durée </a:t>
            </a:r>
            <a:r>
              <a:rPr sz="1200" b="1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intentionnelle</a:t>
            </a:r>
            <a:r>
              <a:rPr sz="12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: 9 s</a:t>
            </a:r>
          </a:p>
          <a:p>
            <a:r>
              <a:rPr sz="1200" b="0" dirty="0">
                <a:solidFill>
                  <a:srgbClr val="28283C"/>
                </a:solidFill>
                <a:latin typeface="Calibri"/>
              </a:rPr>
              <a:t>Laisse le PI </a:t>
            </a:r>
            <a:r>
              <a:rPr sz="1200" b="0" dirty="0" err="1">
                <a:solidFill>
                  <a:srgbClr val="28283C"/>
                </a:solidFill>
                <a:latin typeface="Calibri"/>
              </a:rPr>
              <a:t>converger</a:t>
            </a:r>
            <a:endParaRPr sz="1200" b="0" dirty="0">
              <a:solidFill>
                <a:srgbClr val="28283C"/>
              </a:solidFill>
              <a:latin typeface="Calibri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313B847-91D4-5785-E98D-5AF8F4E767CB}"/>
              </a:ext>
            </a:extLst>
          </p:cNvPr>
          <p:cNvSpPr txBox="1"/>
          <p:nvPr/>
        </p:nvSpPr>
        <p:spPr>
          <a:xfrm>
            <a:off x="4602480" y="1886706"/>
            <a:ext cx="2245267" cy="2893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t = 12–15 s : </a:t>
            </a:r>
            <a:r>
              <a:rPr sz="1400" b="1" dirty="0" err="1">
                <a:solidFill>
                  <a:schemeClr val="accent5">
                    <a:lumMod val="75000"/>
                  </a:schemeClr>
                </a:solidFill>
                <a:latin typeface="Calibri"/>
              </a:rPr>
              <a:t>approche</a:t>
            </a:r>
            <a:endParaRPr sz="1400" b="1" dirty="0">
              <a:solidFill>
                <a:schemeClr val="accent5">
                  <a:lumMod val="75000"/>
                </a:schemeClr>
              </a:solidFill>
              <a:latin typeface="Calibri"/>
            </a:endParaRPr>
          </a:p>
          <a:p>
            <a:r>
              <a:rPr sz="1400" b="0" dirty="0">
                <a:solidFill>
                  <a:srgbClr val="28283C"/>
                </a:solidFill>
                <a:latin typeface="Calibri"/>
              </a:rPr>
              <a:t>Obstacle : </a:t>
            </a:r>
            <a:r>
              <a:rPr sz="1200" b="0" dirty="0">
                <a:solidFill>
                  <a:srgbClr val="28283C"/>
                </a:solidFill>
                <a:latin typeface="Calibri"/>
              </a:rPr>
              <a:t>0,60 → 0,15 m</a:t>
            </a:r>
          </a:p>
          <a:p>
            <a:r>
              <a:rPr sz="1400" b="0" dirty="0">
                <a:solidFill>
                  <a:srgbClr val="28283C"/>
                </a:solidFill>
                <a:latin typeface="Calibri"/>
              </a:rPr>
              <a:t>d &lt; Dc = 0,30 m → </a:t>
            </a:r>
            <a:r>
              <a:rPr sz="1400" b="0" dirty="0" err="1">
                <a:solidFill>
                  <a:srgbClr val="28283C"/>
                </a:solidFill>
                <a:latin typeface="Calibri"/>
              </a:rPr>
              <a:t>freinage</a:t>
            </a:r>
            <a:endParaRPr sz="1400" b="0" dirty="0">
              <a:solidFill>
                <a:srgbClr val="28283C"/>
              </a:solidFill>
              <a:latin typeface="Calibri"/>
            </a:endParaRPr>
          </a:p>
          <a:p>
            <a:endParaRPr sz="1400" b="0" dirty="0">
              <a:solidFill>
                <a:srgbClr val="28283C"/>
              </a:solidFill>
              <a:latin typeface="Calibri"/>
            </a:endParaRPr>
          </a:p>
          <a:p>
            <a:r>
              <a:rPr sz="1400" b="1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t = 15–21 s : </a:t>
            </a:r>
            <a:r>
              <a:rPr sz="1400" b="1" dirty="0" err="1">
                <a:solidFill>
                  <a:schemeClr val="accent5">
                    <a:lumMod val="75000"/>
                  </a:schemeClr>
                </a:solidFill>
                <a:latin typeface="Calibri"/>
              </a:rPr>
              <a:t>proximité</a:t>
            </a:r>
            <a:endParaRPr sz="1400" b="1" dirty="0">
              <a:solidFill>
                <a:schemeClr val="accent5">
                  <a:lumMod val="75000"/>
                </a:schemeClr>
              </a:solidFill>
              <a:latin typeface="Calibri"/>
            </a:endParaRPr>
          </a:p>
          <a:p>
            <a:r>
              <a:rPr sz="1400" b="0" dirty="0">
                <a:solidFill>
                  <a:srgbClr val="28283C"/>
                </a:solidFill>
                <a:latin typeface="Calibri"/>
              </a:rPr>
              <a:t>Obstacle </a:t>
            </a:r>
            <a:r>
              <a:rPr sz="1400" b="0" dirty="0" err="1">
                <a:solidFill>
                  <a:srgbClr val="28283C"/>
                </a:solidFill>
                <a:latin typeface="Calibri"/>
              </a:rPr>
              <a:t>maintenu</a:t>
            </a:r>
            <a:r>
              <a:rPr sz="1400" b="0" dirty="0">
                <a:solidFill>
                  <a:srgbClr val="28283C"/>
                </a:solidFill>
                <a:latin typeface="Calibri"/>
              </a:rPr>
              <a:t> à 0,15 m</a:t>
            </a:r>
          </a:p>
          <a:p>
            <a:r>
              <a:rPr sz="1400" b="0" dirty="0" err="1">
                <a:solidFill>
                  <a:srgbClr val="28283C"/>
                </a:solidFill>
                <a:latin typeface="Calibri"/>
              </a:rPr>
              <a:t>Freinage</a:t>
            </a:r>
            <a:r>
              <a:rPr sz="1400" b="0" dirty="0">
                <a:solidFill>
                  <a:srgbClr val="28283C"/>
                </a:solidFill>
                <a:latin typeface="Calibri"/>
              </a:rPr>
              <a:t> : 600×(0,30−0,15)</a:t>
            </a:r>
          </a:p>
          <a:p>
            <a:r>
              <a:rPr sz="1400" b="0" dirty="0">
                <a:solidFill>
                  <a:srgbClr val="28283C"/>
                </a:solidFill>
                <a:latin typeface="Calibri"/>
              </a:rPr>
              <a:t>= 90 PWM de </a:t>
            </a:r>
            <a:r>
              <a:rPr sz="1400" b="0" dirty="0" err="1">
                <a:solidFill>
                  <a:srgbClr val="28283C"/>
                </a:solidFill>
                <a:latin typeface="Calibri"/>
              </a:rPr>
              <a:t>réduction</a:t>
            </a:r>
            <a:endParaRPr sz="1400" b="0" dirty="0">
              <a:solidFill>
                <a:srgbClr val="28283C"/>
              </a:solidFill>
              <a:latin typeface="Calibri"/>
            </a:endParaRPr>
          </a:p>
          <a:p>
            <a:endParaRPr sz="1400" b="0" dirty="0">
              <a:solidFill>
                <a:srgbClr val="28283C"/>
              </a:solidFill>
              <a:latin typeface="Calibri"/>
            </a:endParaRPr>
          </a:p>
          <a:p>
            <a:r>
              <a:rPr sz="1400" b="1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t = 21–27 s : </a:t>
            </a:r>
            <a:r>
              <a:rPr sz="1400" b="1" dirty="0" err="1">
                <a:solidFill>
                  <a:schemeClr val="accent5">
                    <a:lumMod val="75000"/>
                  </a:schemeClr>
                </a:solidFill>
                <a:latin typeface="Calibri"/>
              </a:rPr>
              <a:t>éloignement</a:t>
            </a:r>
            <a:endParaRPr sz="1400" b="1" dirty="0">
              <a:solidFill>
                <a:schemeClr val="accent5">
                  <a:lumMod val="75000"/>
                </a:schemeClr>
              </a:solidFill>
              <a:latin typeface="Calibri"/>
            </a:endParaRPr>
          </a:p>
          <a:p>
            <a:r>
              <a:rPr sz="1400" b="0" dirty="0">
                <a:solidFill>
                  <a:srgbClr val="28283C"/>
                </a:solidFill>
                <a:latin typeface="Calibri"/>
              </a:rPr>
              <a:t>Obstacle : </a:t>
            </a:r>
            <a:r>
              <a:rPr sz="1200" b="0" dirty="0">
                <a:solidFill>
                  <a:srgbClr val="28283C"/>
                </a:solidFill>
                <a:latin typeface="Calibri"/>
              </a:rPr>
              <a:t>0,15 → 1,20 m</a:t>
            </a:r>
          </a:p>
          <a:p>
            <a:r>
              <a:rPr sz="1400" b="0" dirty="0">
                <a:solidFill>
                  <a:srgbClr val="28283C"/>
                </a:solidFill>
                <a:latin typeface="Calibri"/>
              </a:rPr>
              <a:t>d &gt; Dc → </a:t>
            </a:r>
            <a:r>
              <a:rPr sz="1400" b="0" dirty="0" err="1">
                <a:solidFill>
                  <a:srgbClr val="28283C"/>
                </a:solidFill>
                <a:latin typeface="Calibri"/>
              </a:rPr>
              <a:t>freinage</a:t>
            </a:r>
            <a:r>
              <a:rPr sz="1400" b="0" dirty="0">
                <a:solidFill>
                  <a:srgbClr val="28283C"/>
                </a:solidFill>
                <a:latin typeface="Calibri"/>
              </a:rPr>
              <a:t> = 0</a:t>
            </a:r>
          </a:p>
          <a:p>
            <a:r>
              <a:rPr sz="1400" b="0" dirty="0">
                <a:solidFill>
                  <a:srgbClr val="28283C"/>
                </a:solidFill>
                <a:latin typeface="Calibri"/>
              </a:rPr>
              <a:t>Voiture </a:t>
            </a:r>
            <a:r>
              <a:rPr sz="1400" b="0" dirty="0" err="1">
                <a:solidFill>
                  <a:srgbClr val="28283C"/>
                </a:solidFill>
                <a:latin typeface="Calibri"/>
              </a:rPr>
              <a:t>réaccélère</a:t>
            </a:r>
            <a:r>
              <a:rPr sz="1400" b="0" dirty="0">
                <a:solidFill>
                  <a:srgbClr val="28283C"/>
                </a:solidFill>
                <a:latin typeface="Calibri"/>
              </a:rPr>
              <a:t> vers </a:t>
            </a:r>
            <a:r>
              <a:rPr sz="1400" b="0" dirty="0" err="1">
                <a:solidFill>
                  <a:srgbClr val="28283C"/>
                </a:solidFill>
                <a:latin typeface="Calibri"/>
              </a:rPr>
              <a:t>Vc</a:t>
            </a:r>
            <a:endParaRPr sz="1400" b="0" dirty="0">
              <a:solidFill>
                <a:srgbClr val="28283C"/>
              </a:solidFill>
              <a:latin typeface="Calibri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55EE988-F95F-BCA6-BC00-88BE8EE63DCA}"/>
              </a:ext>
            </a:extLst>
          </p:cNvPr>
          <p:cNvSpPr txBox="1"/>
          <p:nvPr/>
        </p:nvSpPr>
        <p:spPr>
          <a:xfrm>
            <a:off x="6859611" y="1886256"/>
            <a:ext cx="2270805" cy="35394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Obstacle hors </a:t>
            </a:r>
            <a:r>
              <a:rPr sz="1400" b="1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portée</a:t>
            </a:r>
            <a:r>
              <a:rPr sz="14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(d &gt; 1,2 m)</a:t>
            </a:r>
          </a:p>
          <a:p>
            <a:r>
              <a:rPr sz="1400" b="0" dirty="0">
                <a:solidFill>
                  <a:srgbClr val="28283C"/>
                </a:solidFill>
                <a:latin typeface="Calibri"/>
              </a:rPr>
              <a:t>Retour </a:t>
            </a:r>
            <a:r>
              <a:rPr sz="1400" b="0" dirty="0" err="1">
                <a:solidFill>
                  <a:srgbClr val="28283C"/>
                </a:solidFill>
                <a:latin typeface="Calibri"/>
              </a:rPr>
              <a:t>automatique</a:t>
            </a:r>
            <a:r>
              <a:rPr sz="1400" b="0" dirty="0">
                <a:solidFill>
                  <a:srgbClr val="28283C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8283C"/>
                </a:solidFill>
                <a:latin typeface="Calibri"/>
              </a:rPr>
              <a:t>en</a:t>
            </a:r>
            <a:r>
              <a:rPr sz="1400" b="0" dirty="0">
                <a:solidFill>
                  <a:srgbClr val="28283C"/>
                </a:solidFill>
                <a:latin typeface="Calibri"/>
              </a:rPr>
              <a:t> mode </a:t>
            </a:r>
            <a:r>
              <a:rPr lang="en-US" sz="1400" b="0" dirty="0">
                <a:solidFill>
                  <a:srgbClr val="28283C"/>
                </a:solidFill>
                <a:latin typeface="Calibri"/>
              </a:rPr>
              <a:t>②</a:t>
            </a:r>
            <a:endParaRPr sz="1400" b="0" dirty="0">
              <a:solidFill>
                <a:srgbClr val="28283C"/>
              </a:solidFill>
              <a:latin typeface="Calibri"/>
            </a:endParaRPr>
          </a:p>
          <a:p>
            <a:endParaRPr sz="1400" b="0" dirty="0">
              <a:solidFill>
                <a:srgbClr val="28283C"/>
              </a:solidFill>
              <a:latin typeface="Calibri"/>
            </a:endParaRPr>
          </a:p>
          <a:p>
            <a:r>
              <a:rPr sz="14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Validation</a:t>
            </a:r>
          </a:p>
          <a:p>
            <a:r>
              <a:rPr sz="1400" b="0" dirty="0" err="1">
                <a:solidFill>
                  <a:srgbClr val="28283C"/>
                </a:solidFill>
                <a:latin typeface="Calibri"/>
              </a:rPr>
              <a:t>Comportement</a:t>
            </a:r>
            <a:r>
              <a:rPr sz="1400" b="0" dirty="0">
                <a:solidFill>
                  <a:srgbClr val="28283C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8283C"/>
                </a:solidFill>
                <a:latin typeface="Calibri"/>
              </a:rPr>
              <a:t>identique</a:t>
            </a:r>
            <a:r>
              <a:rPr sz="1400" b="0" dirty="0">
                <a:solidFill>
                  <a:srgbClr val="28283C"/>
                </a:solidFill>
                <a:latin typeface="Calibri"/>
              </a:rPr>
              <a:t> à </a:t>
            </a:r>
            <a:r>
              <a:rPr lang="en-US" sz="1400" b="0" dirty="0">
                <a:solidFill>
                  <a:srgbClr val="28283C"/>
                </a:solidFill>
                <a:latin typeface="Calibri"/>
              </a:rPr>
              <a:t>②</a:t>
            </a:r>
            <a:endParaRPr sz="1400" b="0" dirty="0">
              <a:solidFill>
                <a:srgbClr val="28283C"/>
              </a:solidFill>
              <a:latin typeface="Calibri"/>
            </a:endParaRPr>
          </a:p>
          <a:p>
            <a:r>
              <a:rPr sz="1400" b="0" dirty="0" err="1">
                <a:solidFill>
                  <a:srgbClr val="28283C"/>
                </a:solidFill>
                <a:latin typeface="Calibri"/>
              </a:rPr>
              <a:t>Vérifie</a:t>
            </a:r>
            <a:r>
              <a:rPr sz="1400" b="0" dirty="0">
                <a:solidFill>
                  <a:srgbClr val="28283C"/>
                </a:solidFill>
                <a:latin typeface="Calibri"/>
              </a:rPr>
              <a:t> la </a:t>
            </a:r>
            <a:r>
              <a:rPr sz="1400" b="0" dirty="0" err="1">
                <a:solidFill>
                  <a:srgbClr val="28283C"/>
                </a:solidFill>
                <a:latin typeface="Calibri"/>
              </a:rPr>
              <a:t>répétabilité</a:t>
            </a:r>
            <a:endParaRPr sz="1400" b="0" dirty="0">
              <a:solidFill>
                <a:srgbClr val="28283C"/>
              </a:solidFill>
              <a:latin typeface="Calibri"/>
            </a:endParaRPr>
          </a:p>
          <a:p>
            <a:r>
              <a:rPr sz="1400" b="0" dirty="0">
                <a:solidFill>
                  <a:srgbClr val="28283C"/>
                </a:solidFill>
                <a:latin typeface="Calibri"/>
              </a:rPr>
              <a:t>et la </a:t>
            </a:r>
            <a:r>
              <a:rPr sz="1400" b="0" dirty="0" err="1">
                <a:solidFill>
                  <a:srgbClr val="28283C"/>
                </a:solidFill>
                <a:latin typeface="Calibri"/>
              </a:rPr>
              <a:t>stabilité</a:t>
            </a:r>
            <a:r>
              <a:rPr sz="1400" b="0" dirty="0">
                <a:solidFill>
                  <a:srgbClr val="28283C"/>
                </a:solidFill>
                <a:latin typeface="Calibri"/>
              </a:rPr>
              <a:t> au retour</a:t>
            </a:r>
          </a:p>
          <a:p>
            <a:endParaRPr sz="1400" b="0" dirty="0">
              <a:solidFill>
                <a:srgbClr val="28283C"/>
              </a:solidFill>
              <a:latin typeface="Calibri"/>
            </a:endParaRPr>
          </a:p>
          <a:p>
            <a:r>
              <a:rPr sz="1400" b="1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Intégrale</a:t>
            </a:r>
            <a:r>
              <a:rPr sz="14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(PI / PID)</a:t>
            </a:r>
          </a:p>
          <a:p>
            <a:r>
              <a:rPr sz="1400" b="0" dirty="0">
                <a:solidFill>
                  <a:srgbClr val="28283C"/>
                </a:solidFill>
                <a:latin typeface="Calibri"/>
              </a:rPr>
              <a:t>Gel pendant </a:t>
            </a:r>
            <a:r>
              <a:rPr sz="1400" b="0" dirty="0" err="1">
                <a:solidFill>
                  <a:srgbClr val="28283C"/>
                </a:solidFill>
                <a:latin typeface="Calibri"/>
              </a:rPr>
              <a:t>freinage</a:t>
            </a:r>
            <a:r>
              <a:rPr sz="1400" b="0" dirty="0">
                <a:solidFill>
                  <a:srgbClr val="28283C"/>
                </a:solidFill>
                <a:latin typeface="Calibri"/>
              </a:rPr>
              <a:t> ACC</a:t>
            </a:r>
          </a:p>
          <a:p>
            <a:r>
              <a:rPr sz="1400" b="0" dirty="0">
                <a:solidFill>
                  <a:srgbClr val="28283C"/>
                </a:solidFill>
                <a:latin typeface="Calibri"/>
              </a:rPr>
              <a:t>→ pas de windup</a:t>
            </a:r>
          </a:p>
          <a:p>
            <a:r>
              <a:rPr sz="1400" b="0" dirty="0">
                <a:solidFill>
                  <a:srgbClr val="28283C"/>
                </a:solidFill>
                <a:latin typeface="Calibri"/>
              </a:rPr>
              <a:t>→ </a:t>
            </a:r>
            <a:r>
              <a:rPr sz="1400" b="0" dirty="0" err="1">
                <a:solidFill>
                  <a:srgbClr val="28283C"/>
                </a:solidFill>
                <a:latin typeface="Calibri"/>
              </a:rPr>
              <a:t>réponse</a:t>
            </a:r>
            <a:r>
              <a:rPr sz="1400" b="0" dirty="0">
                <a:solidFill>
                  <a:srgbClr val="28283C"/>
                </a:solidFill>
                <a:latin typeface="Calibri"/>
              </a:rPr>
              <a:t> propre au retour</a:t>
            </a:r>
          </a:p>
          <a:p>
            <a:r>
              <a:rPr sz="1400" b="0" dirty="0">
                <a:solidFill>
                  <a:srgbClr val="28283C"/>
                </a:solidFill>
                <a:latin typeface="Calibri"/>
              </a:rPr>
              <a:t>   à la </a:t>
            </a:r>
            <a:r>
              <a:rPr sz="1400" b="0" dirty="0" err="1">
                <a:solidFill>
                  <a:srgbClr val="28283C"/>
                </a:solidFill>
                <a:latin typeface="Calibri"/>
              </a:rPr>
              <a:t>vitesse</a:t>
            </a:r>
            <a:r>
              <a:rPr sz="1400" b="0" dirty="0">
                <a:solidFill>
                  <a:srgbClr val="28283C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28283C"/>
                </a:solidFill>
                <a:latin typeface="Calibri"/>
              </a:rPr>
              <a:t>croisière</a:t>
            </a:r>
            <a:endParaRPr sz="1400" b="0" dirty="0">
              <a:solidFill>
                <a:srgbClr val="28283C"/>
              </a:solidFill>
              <a:latin typeface="Calibri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18792D9-2FA7-333C-478B-8DFBB5851137}"/>
              </a:ext>
            </a:extLst>
          </p:cNvPr>
          <p:cNvSpPr txBox="1"/>
          <p:nvPr/>
        </p:nvSpPr>
        <p:spPr>
          <a:xfrm>
            <a:off x="100000" y="6237500"/>
            <a:ext cx="894400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latin typeface="Calibri"/>
              </a:rPr>
              <a:t>Paramètres</a:t>
            </a:r>
            <a:r>
              <a:rPr sz="1000" b="0" dirty="0">
                <a:latin typeface="Calibri"/>
              </a:rPr>
              <a:t> </a:t>
            </a:r>
            <a:r>
              <a:rPr sz="1000" b="0" dirty="0" err="1">
                <a:latin typeface="Calibri"/>
              </a:rPr>
              <a:t>communs</a:t>
            </a:r>
            <a:r>
              <a:rPr sz="1000" b="0" dirty="0">
                <a:latin typeface="Calibri"/>
              </a:rPr>
              <a:t> :   </a:t>
            </a:r>
            <a:r>
              <a:rPr sz="1000" b="0" dirty="0" err="1">
                <a:latin typeface="Calibri"/>
              </a:rPr>
              <a:t>Vc</a:t>
            </a:r>
            <a:r>
              <a:rPr sz="1000" b="0" dirty="0">
                <a:latin typeface="Calibri"/>
              </a:rPr>
              <a:t> = 0,70 m/s   |   Dc = 0,30 m   |   </a:t>
            </a:r>
            <a:r>
              <a:rPr sz="1000" b="0" dirty="0" err="1">
                <a:latin typeface="Calibri"/>
              </a:rPr>
              <a:t>K_brake</a:t>
            </a:r>
            <a:r>
              <a:rPr sz="1000" b="0" dirty="0">
                <a:latin typeface="Calibri"/>
              </a:rPr>
              <a:t> = 600 PWM/m   |   Boucle = 50 </a:t>
            </a:r>
            <a:r>
              <a:rPr sz="1000" b="0" dirty="0" err="1">
                <a:latin typeface="Calibri"/>
              </a:rPr>
              <a:t>ms</a:t>
            </a:r>
            <a:r>
              <a:rPr sz="1000" b="0" dirty="0">
                <a:latin typeface="Calibri"/>
              </a:rPr>
              <a:t> (20 Hz)   |   Log CSV = 10 Hz   |   U_FF = 204 PWM   |   Bruit Hall = </a:t>
            </a:r>
            <a:r>
              <a:rPr sz="1000" b="0" dirty="0" err="1">
                <a:latin typeface="Calibri"/>
              </a:rPr>
              <a:t>σ</a:t>
            </a:r>
            <a:r>
              <a:rPr sz="1000" b="0" dirty="0">
                <a:latin typeface="Calibri"/>
              </a:rPr>
              <a:t> 0,025 m/s + </a:t>
            </a:r>
            <a:r>
              <a:rPr sz="1000" b="0" dirty="0" err="1">
                <a:latin typeface="Calibri"/>
              </a:rPr>
              <a:t>composante</a:t>
            </a:r>
            <a:r>
              <a:rPr sz="1000" b="0" dirty="0">
                <a:latin typeface="Calibri"/>
              </a:rPr>
              <a:t> 0,012 m/s @ 8 Hz</a:t>
            </a:r>
          </a:p>
        </p:txBody>
      </p:sp>
    </p:spTree>
    <p:extLst>
      <p:ext uri="{BB962C8B-B14F-4D97-AF65-F5344CB8AC3E}">
        <p14:creationId xmlns:p14="http://schemas.microsoft.com/office/powerpoint/2010/main" val="2658551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 — Résultats expérimentaux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  <p:pic>
        <p:nvPicPr>
          <p:cNvPr id="6" name="Image 0" descr="/mnt/user-data/outputs/courb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55843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6389043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: démarrage → régulation vitesse (Vc=0.7 m/s) → obstacle → retour vitesse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 — Analyse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868680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83464" y="77724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positives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dirty="0" err="1"/>
              <a:t>Démarrage</a:t>
            </a:r>
            <a:r>
              <a:rPr dirty="0"/>
              <a:t> </a:t>
            </a:r>
            <a:r>
              <a:rPr dirty="0" err="1"/>
              <a:t>efficace</a:t>
            </a:r>
            <a:r>
              <a:rPr dirty="0"/>
              <a:t> : kick-start (209 PWM, 250 </a:t>
            </a:r>
            <a:r>
              <a:rPr dirty="0" err="1"/>
              <a:t>ms</a:t>
            </a:r>
            <a:r>
              <a:rPr dirty="0"/>
              <a:t>) pour </a:t>
            </a:r>
            <a:r>
              <a:rPr dirty="0" err="1"/>
              <a:t>franchir</a:t>
            </a:r>
            <a:r>
              <a:rPr dirty="0"/>
              <a:t> le </a:t>
            </a:r>
            <a:r>
              <a:rPr dirty="0" err="1"/>
              <a:t>seuil</a:t>
            </a:r>
            <a:r>
              <a:rPr dirty="0"/>
              <a:t> </a:t>
            </a:r>
            <a:r>
              <a:rPr dirty="0" err="1"/>
              <a:t>moteur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/>
              <a:t>Commande</a:t>
            </a:r>
            <a:r>
              <a:rPr dirty="0"/>
              <a:t> stable à ~170–180 PWM </a:t>
            </a:r>
            <a:r>
              <a:rPr dirty="0" err="1"/>
              <a:t>en</a:t>
            </a:r>
            <a:r>
              <a:rPr dirty="0"/>
              <a:t> régime sans obstacle</a:t>
            </a:r>
          </a:p>
        </p:txBody>
      </p:sp>
      <p:sp>
        <p:nvSpPr>
          <p:cNvPr id="9" name="Shape 7"/>
          <p:cNvSpPr/>
          <p:nvPr/>
        </p:nvSpPr>
        <p:spPr>
          <a:xfrm>
            <a:off x="228600" y="2697480"/>
            <a:ext cx="8686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28600" y="2697480"/>
            <a:ext cx="86868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83464" y="269748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observées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06324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dirty="0" err="1"/>
              <a:t>Erreur</a:t>
            </a:r>
            <a:r>
              <a:rPr dirty="0"/>
              <a:t> </a:t>
            </a:r>
            <a:r>
              <a:rPr dirty="0" err="1"/>
              <a:t>statique</a:t>
            </a:r>
            <a:r>
              <a:rPr dirty="0"/>
              <a:t> −0,23 m/s (33 %) : </a:t>
            </a:r>
            <a:r>
              <a:rPr dirty="0" err="1"/>
              <a:t>structurelle</a:t>
            </a:r>
            <a:r>
              <a:rPr dirty="0"/>
              <a:t> sans </a:t>
            </a:r>
            <a:r>
              <a:rPr dirty="0" err="1"/>
              <a:t>terme</a:t>
            </a:r>
            <a:r>
              <a:rPr dirty="0"/>
              <a:t> </a:t>
            </a:r>
            <a:r>
              <a:rPr dirty="0" err="1"/>
              <a:t>intégral</a:t>
            </a:r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/>
              <a:t>Commande</a:t>
            </a:r>
            <a:r>
              <a:rPr dirty="0"/>
              <a:t> </a:t>
            </a:r>
            <a:r>
              <a:rPr dirty="0" err="1"/>
              <a:t>saccadée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mode distance (bruit </a:t>
            </a:r>
            <a:r>
              <a:rPr dirty="0" err="1"/>
              <a:t>amplifié</a:t>
            </a:r>
            <a:r>
              <a:rPr dirty="0"/>
              <a:t> par Kp)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tr5% : N/A — la </a:t>
            </a:r>
            <a:r>
              <a:rPr dirty="0" err="1"/>
              <a:t>vitesse</a:t>
            </a:r>
            <a:r>
              <a:rPr dirty="0"/>
              <a:t> ne converge jamais vers </a:t>
            </a:r>
            <a:r>
              <a:rPr dirty="0" err="1"/>
              <a:t>Vc</a:t>
            </a:r>
            <a:endParaRPr dirty="0"/>
          </a:p>
        </p:txBody>
      </p:sp>
      <p:sp>
        <p:nvSpPr>
          <p:cNvPr id="13" name="Shape 11"/>
          <p:cNvSpPr/>
          <p:nvPr/>
        </p:nvSpPr>
        <p:spPr>
          <a:xfrm>
            <a:off x="228600" y="4617720"/>
            <a:ext cx="8686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28600" y="4617720"/>
            <a:ext cx="86868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83464" y="461772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983480"/>
            <a:ext cx="8503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dirty="0" err="1"/>
              <a:t>L'erreur</a:t>
            </a:r>
            <a:r>
              <a:rPr dirty="0"/>
              <a:t> </a:t>
            </a:r>
            <a:r>
              <a:rPr dirty="0" err="1"/>
              <a:t>statique</a:t>
            </a:r>
            <a:r>
              <a:rPr dirty="0"/>
              <a:t> de 33 % est </a:t>
            </a:r>
            <a:r>
              <a:rPr dirty="0" err="1"/>
              <a:t>irréductible</a:t>
            </a:r>
            <a:r>
              <a:rPr dirty="0"/>
              <a:t> sans </a:t>
            </a:r>
            <a:r>
              <a:rPr dirty="0" err="1"/>
              <a:t>terme</a:t>
            </a:r>
            <a:r>
              <a:rPr dirty="0"/>
              <a:t> </a:t>
            </a:r>
            <a:r>
              <a:rPr dirty="0" err="1"/>
              <a:t>intégral</a:t>
            </a:r>
            <a:r>
              <a:rPr dirty="0"/>
              <a:t>. </a:t>
            </a:r>
            <a:r>
              <a:rPr dirty="0" err="1"/>
              <a:t>Sert</a:t>
            </a:r>
            <a:r>
              <a:rPr dirty="0"/>
              <a:t> de </a:t>
            </a:r>
            <a:r>
              <a:rPr dirty="0" err="1"/>
              <a:t>référence</a:t>
            </a:r>
            <a:r>
              <a:rPr dirty="0"/>
              <a:t> comparative.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PI — Résultats expérimentaux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pic>
        <p:nvPicPr>
          <p:cNvPr id="6" name="Image 0" descr="/mnt/user-data/outputs/courbe_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55843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6389043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: démarrage → régulation vitesse (Vc=0.7 m/s) → obstacle → retour vitesse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PI — Analyse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868680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83464" y="77724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positives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dirty="0" err="1"/>
              <a:t>Erreur</a:t>
            </a:r>
            <a:r>
              <a:rPr dirty="0"/>
              <a:t> </a:t>
            </a:r>
            <a:r>
              <a:rPr dirty="0" err="1"/>
              <a:t>statique</a:t>
            </a:r>
            <a:r>
              <a:rPr dirty="0"/>
              <a:t> → 0 : Ki=60 </a:t>
            </a:r>
            <a:r>
              <a:rPr dirty="0" err="1"/>
              <a:t>compense</a:t>
            </a:r>
            <a:r>
              <a:rPr dirty="0"/>
              <a:t> l</a:t>
            </a:r>
            <a:r>
              <a:rPr lang="fr-FR" dirty="0"/>
              <a:t>’erreur </a:t>
            </a:r>
            <a:r>
              <a:rPr dirty="0"/>
              <a:t>(visible sur la </a:t>
            </a:r>
            <a:r>
              <a:rPr dirty="0" err="1"/>
              <a:t>courbe</a:t>
            </a:r>
            <a:r>
              <a:rPr dirty="0"/>
              <a:t>)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/>
              <a:t>Aucun</a:t>
            </a:r>
            <a:r>
              <a:rPr dirty="0"/>
              <a:t> </a:t>
            </a:r>
            <a:r>
              <a:rPr dirty="0" err="1"/>
              <a:t>dépassement</a:t>
            </a:r>
            <a:r>
              <a:rPr dirty="0"/>
              <a:t> : </a:t>
            </a:r>
            <a:r>
              <a:rPr dirty="0" err="1"/>
              <a:t>système</a:t>
            </a:r>
            <a:r>
              <a:rPr dirty="0"/>
              <a:t> très </a:t>
            </a:r>
            <a:r>
              <a:rPr dirty="0" err="1"/>
              <a:t>amorti</a:t>
            </a:r>
            <a:r>
              <a:rPr dirty="0"/>
              <a:t>, convergence monotone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Transition vers mode distance propre : </a:t>
            </a:r>
            <a:r>
              <a:rPr dirty="0" err="1"/>
              <a:t>intégrale</a:t>
            </a:r>
            <a:r>
              <a:rPr dirty="0"/>
              <a:t> continue, pas de </a:t>
            </a:r>
            <a:r>
              <a:rPr dirty="0" err="1"/>
              <a:t>saut</a:t>
            </a:r>
            <a:r>
              <a:rPr dirty="0"/>
              <a:t> de </a:t>
            </a:r>
            <a:r>
              <a:rPr dirty="0" err="1"/>
              <a:t>commande</a:t>
            </a:r>
            <a:endParaRPr dirty="0"/>
          </a:p>
        </p:txBody>
      </p:sp>
      <p:sp>
        <p:nvSpPr>
          <p:cNvPr id="9" name="Shape 7"/>
          <p:cNvSpPr/>
          <p:nvPr/>
        </p:nvSpPr>
        <p:spPr>
          <a:xfrm>
            <a:off x="228600" y="2697480"/>
            <a:ext cx="8686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28600" y="2697480"/>
            <a:ext cx="86868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83464" y="269748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observées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06324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dirty="0"/>
              <a:t>tr5% ≈ 7,5 s — le plus lent des 4 : voiture </a:t>
            </a:r>
            <a:r>
              <a:rPr dirty="0" err="1"/>
              <a:t>parcourt</a:t>
            </a:r>
            <a:r>
              <a:rPr dirty="0"/>
              <a:t> &gt;5 m avant </a:t>
            </a:r>
            <a:r>
              <a:rPr dirty="0" err="1"/>
              <a:t>d'atteindre</a:t>
            </a:r>
            <a:r>
              <a:rPr dirty="0"/>
              <a:t> </a:t>
            </a:r>
            <a:r>
              <a:rPr dirty="0" err="1"/>
              <a:t>Vc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Kp=15 </a:t>
            </a:r>
            <a:r>
              <a:rPr dirty="0" err="1"/>
              <a:t>volontairement</a:t>
            </a:r>
            <a:r>
              <a:rPr dirty="0"/>
              <a:t> </a:t>
            </a:r>
            <a:r>
              <a:rPr dirty="0" err="1"/>
              <a:t>faible</a:t>
            </a:r>
            <a:r>
              <a:rPr dirty="0"/>
              <a:t> → peu </a:t>
            </a:r>
            <a:r>
              <a:rPr dirty="0" err="1"/>
              <a:t>réactif</a:t>
            </a:r>
            <a:r>
              <a:rPr dirty="0"/>
              <a:t> aux perturbations </a:t>
            </a:r>
            <a:r>
              <a:rPr dirty="0" err="1"/>
              <a:t>soudaines</a:t>
            </a:r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/>
              <a:t>Réinitialisation</a:t>
            </a:r>
            <a:r>
              <a:rPr dirty="0"/>
              <a:t> de </a:t>
            </a:r>
            <a:r>
              <a:rPr dirty="0" err="1"/>
              <a:t>l'intégrale</a:t>
            </a:r>
            <a:r>
              <a:rPr dirty="0"/>
              <a:t> au kick → convergence </a:t>
            </a:r>
            <a:r>
              <a:rPr dirty="0" err="1"/>
              <a:t>repart</a:t>
            </a:r>
            <a:r>
              <a:rPr dirty="0"/>
              <a:t> à </a:t>
            </a:r>
            <a:r>
              <a:rPr dirty="0" err="1"/>
              <a:t>zéro</a:t>
            </a:r>
            <a:r>
              <a:rPr dirty="0"/>
              <a:t> après </a:t>
            </a:r>
            <a:r>
              <a:rPr dirty="0" err="1"/>
              <a:t>démarrage</a:t>
            </a:r>
            <a:endParaRPr dirty="0"/>
          </a:p>
        </p:txBody>
      </p:sp>
      <p:sp>
        <p:nvSpPr>
          <p:cNvPr id="13" name="Shape 11"/>
          <p:cNvSpPr/>
          <p:nvPr/>
        </p:nvSpPr>
        <p:spPr>
          <a:xfrm>
            <a:off x="228600" y="4617720"/>
            <a:ext cx="8686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28600" y="4617720"/>
            <a:ext cx="86868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83464" y="461772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983480"/>
            <a:ext cx="8503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dirty="0"/>
              <a:t>Le PI </a:t>
            </a:r>
            <a:r>
              <a:rPr dirty="0" err="1"/>
              <a:t>atteint</a:t>
            </a:r>
            <a:r>
              <a:rPr dirty="0"/>
              <a:t> la </a:t>
            </a:r>
            <a:r>
              <a:rPr dirty="0" err="1"/>
              <a:t>précision</a:t>
            </a:r>
            <a:r>
              <a:rPr dirty="0"/>
              <a:t> au prix de la </a:t>
            </a:r>
            <a:r>
              <a:rPr dirty="0" err="1"/>
              <a:t>rapidité</a:t>
            </a:r>
            <a:r>
              <a:rPr dirty="0"/>
              <a:t>. tr5% = 7,5 s est </a:t>
            </a:r>
            <a:r>
              <a:rPr dirty="0" err="1"/>
              <a:t>rédhibitoire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conditions </a:t>
            </a:r>
            <a:r>
              <a:rPr dirty="0" err="1"/>
              <a:t>réelles</a:t>
            </a:r>
            <a:r>
              <a:rPr dirty="0"/>
              <a:t> — à 0,70 m/s, la voiture </a:t>
            </a:r>
            <a:r>
              <a:rPr dirty="0" err="1"/>
              <a:t>parcourt</a:t>
            </a:r>
            <a:r>
              <a:rPr dirty="0"/>
              <a:t> 5 </a:t>
            </a:r>
            <a:r>
              <a:rPr dirty="0" err="1"/>
              <a:t>mètres</a:t>
            </a:r>
            <a:r>
              <a:rPr dirty="0"/>
              <a:t> avant d'être à </a:t>
            </a:r>
            <a:r>
              <a:rPr dirty="0" err="1"/>
              <a:t>vitesse</a:t>
            </a:r>
            <a:r>
              <a:rPr dirty="0"/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PD — Résultats expérimentaux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pic>
        <p:nvPicPr>
          <p:cNvPr id="6" name="Image 0" descr="/mnt/user-data/outputs/courbe_P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55843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6389043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: démarrage → régulation vitesse (Vc=0.7 m/s) → obstacle → retour vitesse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PD — Analyse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868680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83464" y="77724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positives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dirty="0"/>
              <a:t>tr5% ≈ 1,5 s — le plus </a:t>
            </a:r>
            <a:r>
              <a:rPr dirty="0" err="1"/>
              <a:t>rapide</a:t>
            </a:r>
            <a:r>
              <a:rPr dirty="0"/>
              <a:t> des 4 </a:t>
            </a:r>
            <a:r>
              <a:rPr dirty="0" err="1"/>
              <a:t>correcteurs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/>
              <a:t>Dépassement</a:t>
            </a:r>
            <a:r>
              <a:rPr dirty="0"/>
              <a:t> 14 % </a:t>
            </a:r>
            <a:r>
              <a:rPr dirty="0" err="1"/>
              <a:t>clairement</a:t>
            </a:r>
            <a:r>
              <a:rPr dirty="0"/>
              <a:t> visible </a:t>
            </a:r>
            <a:endParaRPr lang="fr-FR" dirty="0"/>
          </a:p>
        </p:txBody>
      </p:sp>
      <p:sp>
        <p:nvSpPr>
          <p:cNvPr id="9" name="Shape 7"/>
          <p:cNvSpPr/>
          <p:nvPr/>
        </p:nvSpPr>
        <p:spPr>
          <a:xfrm>
            <a:off x="228600" y="2697480"/>
            <a:ext cx="8686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28600" y="2697480"/>
            <a:ext cx="86868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83464" y="269748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observées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06324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dirty="0" err="1"/>
              <a:t>Erreur</a:t>
            </a:r>
            <a:r>
              <a:rPr dirty="0"/>
              <a:t> </a:t>
            </a:r>
            <a:r>
              <a:rPr dirty="0" err="1"/>
              <a:t>statique</a:t>
            </a:r>
            <a:r>
              <a:rPr dirty="0"/>
              <a:t> −0,13 m/s (19 %) : </a:t>
            </a:r>
            <a:r>
              <a:rPr dirty="0" err="1"/>
              <a:t>irréductible</a:t>
            </a:r>
            <a:r>
              <a:rPr dirty="0"/>
              <a:t> sans </a:t>
            </a:r>
            <a:r>
              <a:rPr dirty="0" err="1"/>
              <a:t>terme</a:t>
            </a:r>
            <a:r>
              <a:rPr dirty="0"/>
              <a:t> </a:t>
            </a:r>
            <a:r>
              <a:rPr dirty="0" err="1"/>
              <a:t>intégral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/>
              <a:t>Dépassement</a:t>
            </a:r>
            <a:r>
              <a:rPr dirty="0"/>
              <a:t> 14 % &gt; </a:t>
            </a:r>
            <a:r>
              <a:rPr dirty="0" err="1"/>
              <a:t>norme</a:t>
            </a:r>
            <a:r>
              <a:rPr dirty="0"/>
              <a:t> standard 5 % — non </a:t>
            </a:r>
            <a:r>
              <a:rPr dirty="0" err="1"/>
              <a:t>conforme</a:t>
            </a:r>
            <a:endParaRPr dirty="0"/>
          </a:p>
        </p:txBody>
      </p:sp>
      <p:sp>
        <p:nvSpPr>
          <p:cNvPr id="13" name="Shape 11"/>
          <p:cNvSpPr/>
          <p:nvPr/>
        </p:nvSpPr>
        <p:spPr>
          <a:xfrm>
            <a:off x="228600" y="4617720"/>
            <a:ext cx="8686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28600" y="4617720"/>
            <a:ext cx="86868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83464" y="461772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983480"/>
            <a:ext cx="8503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dirty="0"/>
              <a:t>Le PD est </a:t>
            </a:r>
            <a:r>
              <a:rPr dirty="0" err="1"/>
              <a:t>rapide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imprécis</a:t>
            </a:r>
            <a:r>
              <a:rPr dirty="0"/>
              <a:t>. </a:t>
            </a:r>
            <a:r>
              <a:rPr dirty="0" err="1"/>
              <a:t>Dépassement</a:t>
            </a:r>
            <a:r>
              <a:rPr dirty="0"/>
              <a:t> 14 % </a:t>
            </a:r>
            <a:r>
              <a:rPr dirty="0" err="1"/>
              <a:t>dépasse</a:t>
            </a:r>
            <a:r>
              <a:rPr dirty="0"/>
              <a:t> la </a:t>
            </a:r>
            <a:r>
              <a:rPr dirty="0" err="1"/>
              <a:t>norme</a:t>
            </a:r>
            <a:r>
              <a:rPr dirty="0"/>
              <a:t> de 5 %. Sans </a:t>
            </a:r>
            <a:r>
              <a:rPr dirty="0" err="1"/>
              <a:t>intégrale</a:t>
            </a:r>
            <a:r>
              <a:rPr dirty="0"/>
              <a:t>, </a:t>
            </a:r>
            <a:r>
              <a:rPr dirty="0" err="1"/>
              <a:t>l'erreur</a:t>
            </a:r>
            <a:r>
              <a:rPr dirty="0"/>
              <a:t> </a:t>
            </a:r>
            <a:r>
              <a:rPr dirty="0" err="1"/>
              <a:t>statique</a:t>
            </a:r>
            <a:r>
              <a:rPr dirty="0"/>
              <a:t> de 19 % </a:t>
            </a:r>
            <a:r>
              <a:rPr dirty="0" err="1"/>
              <a:t>persiste</a:t>
            </a:r>
            <a:r>
              <a:rPr dirty="0"/>
              <a:t> </a:t>
            </a:r>
            <a:r>
              <a:rPr dirty="0" err="1"/>
              <a:t>indéfiniment</a:t>
            </a:r>
            <a:r>
              <a:rPr dirty="0"/>
              <a:t>. Bon </a:t>
            </a:r>
            <a:r>
              <a:rPr dirty="0" err="1"/>
              <a:t>transitoire</a:t>
            </a:r>
            <a:r>
              <a:rPr dirty="0"/>
              <a:t>, </a:t>
            </a:r>
            <a:r>
              <a:rPr dirty="0" err="1"/>
              <a:t>mauvais</a:t>
            </a:r>
            <a:r>
              <a:rPr dirty="0"/>
              <a:t> état final.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PID — Résultats expérimentaux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  <p:pic>
        <p:nvPicPr>
          <p:cNvPr id="6" name="Image 0" descr="/mnt/user-data/outputs/courbe_P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55843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6389043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: démarrage → régulation vitesse (Vc=0.7 m/s) → obstacle → retour vitesse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Correcteur PID — Analyse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868680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83464" y="77724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positives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dirty="0" err="1"/>
              <a:t>Erreur</a:t>
            </a:r>
            <a:r>
              <a:rPr dirty="0"/>
              <a:t> </a:t>
            </a:r>
            <a:r>
              <a:rPr dirty="0" err="1"/>
              <a:t>statique</a:t>
            </a:r>
            <a:r>
              <a:rPr dirty="0"/>
              <a:t> &lt; 1 % (−0,01 m/s) : </a:t>
            </a:r>
            <a:r>
              <a:rPr dirty="0" err="1"/>
              <a:t>intégrale</a:t>
            </a:r>
            <a:r>
              <a:rPr dirty="0"/>
              <a:t> (Ki=40) </a:t>
            </a:r>
            <a:r>
              <a:rPr dirty="0" err="1"/>
              <a:t>élimine</a:t>
            </a:r>
            <a:r>
              <a:rPr dirty="0"/>
              <a:t> l</a:t>
            </a:r>
            <a:r>
              <a:rPr lang="fr-FR" dirty="0"/>
              <a:t>’erreur </a:t>
            </a:r>
            <a:r>
              <a:rPr dirty="0" err="1"/>
              <a:t>en</a:t>
            </a:r>
            <a:r>
              <a:rPr dirty="0"/>
              <a:t> ~5 s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/>
              <a:t>Dépassement</a:t>
            </a:r>
            <a:r>
              <a:rPr dirty="0"/>
              <a:t> 4,8 % &lt; 5 % : </a:t>
            </a:r>
            <a:r>
              <a:rPr dirty="0" err="1"/>
              <a:t>conforme</a:t>
            </a:r>
            <a:r>
              <a:rPr dirty="0"/>
              <a:t> à la </a:t>
            </a:r>
            <a:r>
              <a:rPr dirty="0" err="1"/>
              <a:t>norme</a:t>
            </a:r>
            <a:r>
              <a:rPr dirty="0"/>
              <a:t> standard </a:t>
            </a:r>
            <a:r>
              <a:rPr dirty="0" err="1"/>
              <a:t>industrielle</a:t>
            </a:r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tr5% ≈ 4 s : bon </a:t>
            </a:r>
            <a:r>
              <a:rPr dirty="0" err="1"/>
              <a:t>compromis</a:t>
            </a:r>
            <a:r>
              <a:rPr dirty="0"/>
              <a:t> </a:t>
            </a:r>
            <a:r>
              <a:rPr dirty="0" err="1"/>
              <a:t>rapidité</a:t>
            </a:r>
            <a:r>
              <a:rPr dirty="0"/>
              <a:t> / </a:t>
            </a:r>
            <a:r>
              <a:rPr dirty="0" err="1"/>
              <a:t>stabilité</a:t>
            </a:r>
            <a:r>
              <a:rPr dirty="0"/>
              <a:t> entre PI (7,5 s) et PD (1,5 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Mode distance ACC propre : </a:t>
            </a:r>
            <a:r>
              <a:rPr dirty="0" err="1"/>
              <a:t>maintien</a:t>
            </a:r>
            <a:r>
              <a:rPr dirty="0"/>
              <a:t> de </a:t>
            </a:r>
            <a:r>
              <a:rPr dirty="0" err="1"/>
              <a:t>Vc</a:t>
            </a:r>
            <a:r>
              <a:rPr dirty="0"/>
              <a:t> </a:t>
            </a:r>
            <a:r>
              <a:rPr dirty="0" err="1"/>
              <a:t>puis</a:t>
            </a:r>
            <a:r>
              <a:rPr dirty="0"/>
              <a:t> </a:t>
            </a:r>
            <a:r>
              <a:rPr dirty="0" err="1"/>
              <a:t>freinage</a:t>
            </a:r>
            <a:r>
              <a:rPr dirty="0"/>
              <a:t> </a:t>
            </a:r>
            <a:r>
              <a:rPr dirty="0" err="1"/>
              <a:t>proportionnel</a:t>
            </a:r>
            <a:r>
              <a:rPr dirty="0"/>
              <a:t> à la </a:t>
            </a:r>
            <a:r>
              <a:rPr dirty="0" err="1"/>
              <a:t>proximité</a:t>
            </a:r>
            <a:endParaRPr dirty="0"/>
          </a:p>
        </p:txBody>
      </p:sp>
      <p:sp>
        <p:nvSpPr>
          <p:cNvPr id="9" name="Shape 7"/>
          <p:cNvSpPr/>
          <p:nvPr/>
        </p:nvSpPr>
        <p:spPr>
          <a:xfrm>
            <a:off x="228600" y="2697480"/>
            <a:ext cx="8686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28600" y="2697480"/>
            <a:ext cx="86868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83464" y="269748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observées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06324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dirty="0" err="1"/>
              <a:t>Réglage</a:t>
            </a:r>
            <a:r>
              <a:rPr dirty="0"/>
              <a:t> plus </a:t>
            </a:r>
            <a:r>
              <a:rPr dirty="0" err="1"/>
              <a:t>complexe</a:t>
            </a:r>
            <a:r>
              <a:rPr dirty="0"/>
              <a:t> : 3 </a:t>
            </a:r>
            <a:r>
              <a:rPr dirty="0" err="1"/>
              <a:t>paramètres</a:t>
            </a:r>
            <a:r>
              <a:rPr dirty="0"/>
              <a:t> </a:t>
            </a:r>
            <a:r>
              <a:rPr dirty="0" err="1"/>
              <a:t>interdépendants</a:t>
            </a:r>
            <a:r>
              <a:rPr dirty="0"/>
              <a:t> (Kp, Ki, Kd)</a:t>
            </a: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Anti-windup </a:t>
            </a:r>
            <a:r>
              <a:rPr dirty="0" err="1"/>
              <a:t>nécessaire</a:t>
            </a:r>
            <a:r>
              <a:rPr dirty="0"/>
              <a:t> : </a:t>
            </a:r>
            <a:r>
              <a:rPr dirty="0" err="1"/>
              <a:t>intégrale</a:t>
            </a:r>
            <a:r>
              <a:rPr dirty="0"/>
              <a:t> gelée pendant le </a:t>
            </a:r>
            <a:r>
              <a:rPr dirty="0" err="1"/>
              <a:t>freinage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mode distance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Terme D sensible au bruit Hall (</a:t>
            </a:r>
            <a:r>
              <a:rPr dirty="0" err="1"/>
              <a:t>atténué</a:t>
            </a:r>
            <a:r>
              <a:rPr dirty="0"/>
              <a:t> par </a:t>
            </a:r>
            <a:r>
              <a:rPr dirty="0" err="1"/>
              <a:t>dérivée</a:t>
            </a:r>
            <a:r>
              <a:rPr dirty="0"/>
              <a:t> sur </a:t>
            </a:r>
            <a:r>
              <a:rPr dirty="0" err="1"/>
              <a:t>mesure</a:t>
            </a:r>
            <a:r>
              <a:rPr dirty="0"/>
              <a:t>)</a:t>
            </a:r>
          </a:p>
        </p:txBody>
      </p:sp>
      <p:sp>
        <p:nvSpPr>
          <p:cNvPr id="13" name="Shape 11"/>
          <p:cNvSpPr/>
          <p:nvPr/>
        </p:nvSpPr>
        <p:spPr>
          <a:xfrm>
            <a:off x="228600" y="4617720"/>
            <a:ext cx="8686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28600" y="4617720"/>
            <a:ext cx="86868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83464" y="461772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983480"/>
            <a:ext cx="8503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dirty="0"/>
              <a:t>Seul le PID </a:t>
            </a:r>
            <a:r>
              <a:rPr dirty="0" err="1"/>
              <a:t>satisfait</a:t>
            </a:r>
            <a:r>
              <a:rPr dirty="0"/>
              <a:t> </a:t>
            </a:r>
            <a:r>
              <a:rPr dirty="0" err="1"/>
              <a:t>simultanément</a:t>
            </a:r>
            <a:r>
              <a:rPr dirty="0"/>
              <a:t> les 3 </a:t>
            </a:r>
            <a:r>
              <a:rPr dirty="0" err="1"/>
              <a:t>critères</a:t>
            </a:r>
            <a:r>
              <a:rPr dirty="0"/>
              <a:t> : </a:t>
            </a:r>
            <a:r>
              <a:rPr dirty="0" err="1"/>
              <a:t>erreur</a:t>
            </a:r>
            <a:r>
              <a:rPr dirty="0"/>
              <a:t> &lt; 1 %, </a:t>
            </a:r>
            <a:r>
              <a:rPr dirty="0" err="1"/>
              <a:t>dépassement</a:t>
            </a:r>
            <a:r>
              <a:rPr dirty="0"/>
              <a:t> 4,8 % ≤ 5 %, tr5% = 4 s. </a:t>
            </a:r>
            <a:r>
              <a:rPr dirty="0" err="1"/>
              <a:t>L'architecture</a:t>
            </a:r>
            <a:r>
              <a:rPr dirty="0"/>
              <a:t> FF + PID </a:t>
            </a:r>
            <a:r>
              <a:rPr dirty="0" err="1"/>
              <a:t>constitue</a:t>
            </a:r>
            <a:r>
              <a:rPr dirty="0"/>
              <a:t> la solution </a:t>
            </a:r>
            <a:r>
              <a:rPr dirty="0" err="1"/>
              <a:t>optimale</a:t>
            </a:r>
            <a:r>
              <a:rPr dirty="0"/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correcteurs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04672"/>
          <a:ext cx="8229600" cy="30002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Erreur statique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Dépassement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Robustesse bruit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−0,23 m/s (33 %)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Bonne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Simple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✗ Erreur résiduelle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→ 0 (en ~8 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Moyenne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Moyenne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⚠ Lent (tr5%=7,5 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PD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−0,13 m/s (19 %)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14 % &gt; 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Faible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Moyenne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✗ Hors norme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PID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&lt; 1 % (≈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4,8 % ≤ 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Faible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Complexe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t>✓✓ Optimal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28600" y="3885520"/>
            <a:ext cx="8686800" cy="118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228600" y="3885520"/>
            <a:ext cx="86868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283464" y="388552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clé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425128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600" dirty="0"/>
              <a:t>Le PID+FF est le seul à </a:t>
            </a:r>
            <a:r>
              <a:rPr sz="1600" dirty="0" err="1"/>
              <a:t>satisfaire</a:t>
            </a:r>
            <a:r>
              <a:rPr sz="1600" dirty="0"/>
              <a:t> les 3 </a:t>
            </a:r>
            <a:r>
              <a:rPr sz="1600" dirty="0" err="1"/>
              <a:t>critères</a:t>
            </a:r>
            <a:r>
              <a:rPr sz="1600" dirty="0"/>
              <a:t> : </a:t>
            </a:r>
            <a:r>
              <a:rPr sz="1600" dirty="0" err="1"/>
              <a:t>erreur</a:t>
            </a:r>
            <a:r>
              <a:rPr sz="1600" dirty="0"/>
              <a:t> &lt; 1 %, </a:t>
            </a:r>
            <a:r>
              <a:rPr sz="1600" dirty="0" err="1"/>
              <a:t>dépassement</a:t>
            </a:r>
            <a:r>
              <a:rPr sz="1600" dirty="0"/>
              <a:t> 4,8 % ≤ 5 %, </a:t>
            </a:r>
            <a:endParaRPr lang="fr-FR" sz="1600" dirty="0"/>
          </a:p>
          <a:p>
            <a:pPr>
              <a:spcAft>
                <a:spcPts val="500"/>
              </a:spcAft>
              <a:buSzPct val="100000"/>
            </a:pPr>
            <a:r>
              <a:rPr sz="1600" dirty="0"/>
              <a:t>tr5% = 4 s. Mode distance</a:t>
            </a:r>
            <a:r>
              <a:rPr lang="fr-FR" sz="1600" dirty="0"/>
              <a:t> </a:t>
            </a:r>
            <a:r>
              <a:rPr sz="1600" dirty="0"/>
              <a:t>: </a:t>
            </a:r>
            <a:r>
              <a:rPr sz="1600" dirty="0" err="1"/>
              <a:t>freinage</a:t>
            </a:r>
            <a:r>
              <a:rPr sz="1600" dirty="0"/>
              <a:t> seul sans </a:t>
            </a:r>
            <a:r>
              <a:rPr sz="1600" dirty="0" err="1"/>
              <a:t>accélération</a:t>
            </a:r>
            <a:r>
              <a:rPr sz="1600" dirty="0"/>
              <a:t> vers </a:t>
            </a:r>
            <a:r>
              <a:rPr sz="1600" dirty="0" err="1"/>
              <a:t>l'obstacle</a:t>
            </a:r>
            <a:r>
              <a:rPr sz="1600" dirty="0"/>
              <a:t>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5294704"/>
            <a:ext cx="8686800" cy="118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228600" y="5294704"/>
            <a:ext cx="868680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283464" y="5294704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la comparaison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" y="5660464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varie avec la charge batterie → U_FF imprécis → biais systématique sur toutes les expériences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aimants :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Δv_periode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=23,01% — oscillations résiduelles ±0,10 m/s liées à la zone morte (irréductibles sans changer le matériel)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et perspectives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232868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232868" cy="324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83463" y="777240"/>
            <a:ext cx="4094085" cy="324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matérielles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" y="1143000"/>
            <a:ext cx="4024694" cy="5401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aimants : Δv_freq=1,74 m/s (249% à 0,70 m/s)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varie avec batterie → re-identification nécessaire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: fausses détections en extérieur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morte 76/255 → oscillations irréductibles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82534" y="777240"/>
            <a:ext cx="4232866" cy="58094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682534" y="777240"/>
            <a:ext cx="4232866" cy="32424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737398" y="777240"/>
            <a:ext cx="4094084" cy="324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5686" y="1143000"/>
            <a:ext cx="4024692" cy="5404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aimants → Δv_freq divisé par 4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Encodeur optique → résolution µm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 maquette → obstacle mobile réaliste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Re-identification auto (K adaptatif)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42054"/>
          </a:solidFill>
          <a:ln w="12700">
            <a:solidFill>
              <a:srgbClr val="1420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960120"/>
            <a:ext cx="27432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72444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 fonctionnelle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17520" y="1143000"/>
            <a:ext cx="0" cy="502920"/>
          </a:xfrm>
          <a:prstGeom prst="line">
            <a:avLst/>
          </a:prstGeom>
          <a:noFill/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127248" y="109728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Régulation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distance à obstacle sur voiture RC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72444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moteur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17520" y="1920240"/>
            <a:ext cx="0" cy="502920"/>
          </a:xfrm>
          <a:prstGeom prst="line">
            <a:avLst/>
          </a:prstGeom>
          <a:noFill/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127248" y="187452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ordre : K=1,4 m/s,  τ=250 ms,  seuil=76/255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72444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2920" y="2651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de vitesse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017520" y="2697480"/>
            <a:ext cx="0" cy="502920"/>
          </a:xfrm>
          <a:prstGeom prst="line">
            <a:avLst/>
          </a:prstGeom>
          <a:noFill/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127248" y="265176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période ×155 plus précise que fréquencemétrique à 0,70 m/s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72444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34290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FF+PID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017520" y="3474720"/>
            <a:ext cx="0" cy="502920"/>
          </a:xfrm>
          <a:prstGeom prst="line">
            <a:avLst/>
          </a:prstGeom>
          <a:noFill/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127248" y="34290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U_FF indispensable — PID corrige les écarts résiduels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72444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P/PI/PD/PID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017520" y="4251960"/>
            <a:ext cx="0" cy="502920"/>
          </a:xfrm>
          <a:prstGeom prst="line">
            <a:avLst/>
          </a:prstGeom>
          <a:noFill/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127248" y="420624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=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5760" y="49377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72444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02920" y="49834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017520" y="5029200"/>
            <a:ext cx="0" cy="502920"/>
          </a:xfrm>
          <a:prstGeom prst="line">
            <a:avLst/>
          </a:prstGeom>
          <a:noFill/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127248" y="498348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de rétroaction → cycle de correction répété à chaque période 50 ms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Bibliographie et annexe code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86868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868680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83464" y="77724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bibliographiques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197864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V.K. Kukkala, J. Tunnell, S. Pasricha, T. Bradley — "Advanced Driver-Assistance Systems: A Path Toward Autonomous Vehicles" — IEEE Consumer Electronics Magazine, vol. 7, n°5, pp. 18-25, 2018. DOI: 10.1109/MCE.2018.2828440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11480" y="2249424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J.E. Naranjo, F. Serradilla, F. Nashashibi — "Speed Control Optimization for Autonomous Vehicles with Metaheuristics" — Electronics 2020, 9, 551. DOI: 10.3390/electronics9040551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24612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11480" y="3300984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Saravanan G et al. — "Red Panda Optimization Algorithm-Based PID Controller Design for Automobile Cruise Control System" — ICSSEECC 2024. DOI: 10.1109/ICSSEECC61126.2024.10649422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429768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11480" y="4352544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J.S. Saputro et al. — "Design of an Adaptive Cruise Control System using PID Control Method on Electric Vehicle Prototypes" — ICAMIMIA 2023. DOI: 10.1109/ICAMIMIA60881.2023.10427856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5779008"/>
            <a:ext cx="8686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28600" y="5779008"/>
            <a:ext cx="8686800" cy="329184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83464" y="57790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code Arduino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61081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complets fournis sur support papier en double exemplaire. Modules : hallISR(), calculerVitessePeriode(), calculerCorrecteur() PID, calculerCommandeMoteur() kick+rampe, appliquerCommande() zone morte, lireDistance(), loop().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2334</Words>
  <Application>Microsoft Macintosh PowerPoint</Application>
  <PresentationFormat>On-screen Show (4:3)</PresentationFormat>
  <Paragraphs>345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Emile Reynaud</cp:lastModifiedBy>
  <cp:revision>3</cp:revision>
  <dcterms:created xsi:type="dcterms:W3CDTF">2026-06-05T14:43:34Z</dcterms:created>
  <dcterms:modified xsi:type="dcterms:W3CDTF">2026-06-09T11:35:38Z</dcterms:modified>
</cp:coreProperties>
</file>