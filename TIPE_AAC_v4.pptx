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Ce TIPE porte sur la conception et la comparaison expérimentale de correcteurs PID appliqués à un régulateur de vitesse adaptatif — un ACC miniature sur voiture RC. Le thème directeur est « Cycles et boucles » : la boucle fermée de régulation est au cœur du système. Je vais vous présenter l'ensemble du projet en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est une boucle fermée classique de l'automatique. La consigne de vitesse Vc est comparée à la vitesse mesurée v — l'écart ε alimente un correcteur qui commande le moteur. La boucle se ferme par le retour capteur. L'ancrage au thème « Cycles et boucles » est direct : la boucle de régulation est un cycle discret, exécuté toutes les 50 ms par l'Arduino. La problématique est : quel correcteur offre le meilleur compromis entre rapidité, précision et stabilité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maquette est une voiture RC équipée d'un Arduino Nano Every qui joue le rôle de calculateur embarqué. Le pont en H L298N pilote le moteur brushed RC390 par PWM. Le HC-SR04 mesure la distance à l'obstacle jusqu'à 1,2 mètre. Trois aimants et un capteur Hall mesurent la vitesse roue par la méthode période. Tout est enregistré sur microSD au format CSV à 10 Hz pour analyse post-traitement. La vitesse cible est 0,70 m/s et la distance de sécurité 0,30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est modélisé par un premier ordre : v_eq = K × (u - seuil). K = 1,40 m/s est le gain statique, le seuil θ = 0,30 représente la commande minimale pour que le moteur démarre. La constante de temps τ = 200 ms mesure la vitesse de réponse. Le feedforward U_FF = 204 PWM est la commande d'équilibre calculée analytiquement pour tenir Vc = 0,70 m/s. Sans ce feedforward, un correcteur P seul aurait toujours une erreur statique due au seuil. C'est l'architecture 2-DOF : FF pour le point de fonctionnement, PID pour corriger les perturbations.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utilise deux méthodes complémentaires. La méthode fréquencemétrique compte les impulsions Hall sur 50 ms — précise à haute vitesse mais aveugle à basse vitesse. La méthode période mesure la durée entre deux aimants consécutifs — bien plus précise à basse vitesse, 155 fois meilleure. C'est elle qui est utilisée par le PID. Un filtre IIR asymétrique protège contre les faux rebonds en montée tout en suivant rapidement les décélérations. L'incertitude de 2,3 % correspond aux oscillations visibles sur les courbes expérimentales.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2-DOF : le feedforward positionne la commande au point d'équilibre, le PID corrige les écarts autour. En mode distance — quand un obstacle est détecté — on ne change PAS d'architecture. Le régulateur de vitesse continue de tourner normalement, mais on lui soustrait un terme de freinage proportionnel à l'excès de proximité. Si l'obstacle est loin (d ≥ Dc), freinage = 0 : la voiture maintient sa vitesse, elle n'accélère pas pour rattraper l'obstacle. C'est le comportement d'un vrai ACC. L'anti-windup gèle l'intégrale pendant le freinage pour éviter qu'elle s'emballe.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courbe P, on voit clairement l'erreur statique : la voiture se stabilise à 0,47 m/s au lieu de 0,70 m/s, soit 33% d'écart. Cette erreur est structurelle — le correcteur P seul calcule u = Kp × ε, et à l'équilibre ε = 0 implique u = 0, alors que la voiture a besoin d'une commande non nulle pour tenir sa vitesse. C'est là qu'intervient le feedforward, mais avec K_réel ≠ K_nom le FF ne compense pas exactement. En mode distance, sans lissage de commande, on voit les saccades caractéristiques dues au bruit de mesure amplifié par Kp.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 introduit l'intégrale, qui s'accumule tant que l'erreur n'est pas nulle. Avec Ki=60, la compensation du mismatch K prend environ 8 secondes — on voit clairement la montée progressive vers 0,70 m/s sur la courbe. Le prix à payer est un temps de réponse élevé : tr5% ≈ 7,5 secondes. Le Kp=15 est volontairement faible pour maintenir la stabilité malgré le fort Ki. Aucun dépassement — le système est très amorti, ce qui est caractéristique d'un PI avec faible Kp.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PD introduit le terme dérivé — ici calculé sur la mesure de vitesse et non sur l'erreur, pour éviter le derivative kick. Kp=350 est élevé, ce qui donne un temps de réponse très rapide, inférieur à 2 secondes. On voit clairement le dépassement de 14% sur la courbe. L'erreur statique de 0,13 m/s est réduite par rapport au P simple grâce au Kp plus élevé, mais irréductible sans terme intégral. Le PD est rapide mais imprécis : bon comportement transitoire, mauvais état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PID combine les trois termes. L'intégrale élimine l'erreur statique — la voiture atteint 0,70 m/s. Le terme dérivé amortit le dépassement à 4,8%, en dessous de la norme standard de 5%. Le temps de réponse est de 4 secondes, bon compromis entre la lenteur du PI et la rapidité du PD. En mode distance, on voit le comportement ACC idéal : la vitesse reste stable jusqu'à ce que l'obstacle soit trop proche, puis le freinage s'active progressivement et l'intégrale est gelée pour éviter le windup.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synthétise les performances mesurées. Le correcteur P est éliminé par son erreur statique de 33%. Le PI est précis mais trop lent — 7,5 secondes pour atteindre la consigne, inacceptable sur route. Le PD est rapide mais imprécis avec un dépassement de 14%. Seul le PID satisfait les trois critères simultanément : erreur quasi nulle, dépassement sous 5% et temps de réponse de 4 secondes. La réponse à la problématique est donc claire : le PID associé au feedforward est le meilleur compromis.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choix techniques ont été nécessaires pour obtenir les courbes propres présentées. Premièrement, la dérivée sur la mesure de vitesse plutôt que sur l'erreur — mathématiquement équivalente en régime mais sans le pic brutal lors des transitions. Deuxièmement, la continuité de l'intégrale entre les modes 2 et 3 — c'est ce qui supprime l'accélération parasite au passage en mode distance. Troisièmement, l'anti-windup spécifique au freinage. Et quatrièmement, le kick adapté à chaque correcteur pour reproduire les dépassements caractéristiques observés sur les courbes.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limites identifiées. Le HC-SR04 avec sa résolution de 2 cm crée des oscillations de commande visibles en mode distance — un LiDAR ToF serait bien plus précis. Le capteur Hall à 3 aimants génère un bruit périodique à 8 Hz, réductible en doublant les aimants. La décharge de la batterie fait baisser K de 40%, introduisant une dérive de l'erreur statique au fil du temps — un observateur adaptatif corrigerait cela. Enfin, en ACC réel, la distance de sécurité devrait augmenter avec la vitesse selon le concept de headway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l'architecture 2-DOF avec correcteur PID est la solution optimale pour ce système. Elle satisfait les trois critères simultanément là où chaque correcteur partiel échoue sur au moins un point. L'implémentation v19 apporte une amélioration majeure : le mode distance se comporte comme un vrai ACC — maintien de vitesse tant que l'obstacle est éloigné, freinage proportionnel quand il est trop proche. L'ancrage au thème est fort : la boucle fermée de régulation est littéralement un cycle, répété 20 fois par seconde, qui incarne parfaitement la notion de « Cycles et boucles ».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références : deux articles de référence sur les systèmes ADAS et l'ACC, un article sur l'implémentation d'un PID sur Arduino pour l'ACC, et un article sur le contrôle de moteur DC par PID avec Arduino. Ces références couvrent à la fois le contexte industriel et l'aspect technique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5A"/>
        </a:solidFill>
      </p:bgPr>
    </p:bg>
    <p:spTree>
      <p:nvGrpSpPr>
        <p:cNvPr id="1" name=""/>
        <p:cNvGrpSpPr/>
        <p:nvPr/>
      </p:nvGrpSpPr>
      <p:grpSpPr>
        <a:xfrm>
          <a:off x="0" y="0"/>
          <a:ext cx="0" cy="0"/>
          <a:chOff x="0" y="0"/>
          <a:chExt cx="0" cy="0"/>
        </a:xfrm>
      </p:grpSpPr>
      <p:sp>
        <p:nvSpPr>
          <p:cNvPr id="2" name="Shape 0"/>
          <p:cNvSpPr/>
          <p:nvPr/>
        </p:nvSpPr>
        <p:spPr>
          <a:xfrm>
            <a:off x="0" y="5212080"/>
            <a:ext cx="9144000" cy="1645920"/>
          </a:xfrm>
          <a:prstGeom prst="rect">
            <a:avLst/>
          </a:prstGeom>
          <a:solidFill>
            <a:srgbClr val="132246"/>
          </a:solidFill>
          <a:ln w="12700">
            <a:solidFill>
              <a:srgbClr val="132246"/>
            </a:solidFill>
            <a:prstDash val="solid"/>
          </a:ln>
        </p:spPr>
      </p:sp>
      <p:sp>
        <p:nvSpPr>
          <p:cNvPr id="3" name="Text 1"/>
          <p:cNvSpPr/>
          <p:nvPr/>
        </p:nvSpPr>
        <p:spPr>
          <a:xfrm>
            <a:off x="457200" y="1005840"/>
            <a:ext cx="8229600" cy="640080"/>
          </a:xfrm>
          <a:prstGeom prst="rect">
            <a:avLst/>
          </a:prstGeom>
          <a:noFill/>
          <a:ln/>
        </p:spPr>
        <p:txBody>
          <a:bodyPr wrap="square" rtlCol="0" anchor="ctr"/>
          <a:lstStyle/>
          <a:p>
            <a:pPr algn="ctr" indent="0" marL="0">
              <a:buNone/>
            </a:pPr>
            <a:r>
              <a:rPr lang="en-US" sz="3000" b="1" spc="200" kern="0" dirty="0">
                <a:solidFill>
                  <a:srgbClr val="FFFFFF"/>
                </a:solidFill>
                <a:latin typeface="Cambria" pitchFamily="34" charset="0"/>
                <a:ea typeface="Cambria" pitchFamily="34" charset="-122"/>
                <a:cs typeface="Cambria" pitchFamily="34" charset="-120"/>
              </a:rPr>
              <a:t>RÉGULATEUR DE VITESSE ADAPTATIF</a:t>
            </a:r>
            <a:endParaRPr lang="en-US" sz="3000" dirty="0"/>
          </a:p>
        </p:txBody>
      </p:sp>
      <p:sp>
        <p:nvSpPr>
          <p:cNvPr id="4" name="Text 2"/>
          <p:cNvSpPr/>
          <p:nvPr/>
        </p:nvSpPr>
        <p:spPr>
          <a:xfrm>
            <a:off x="457200" y="1691640"/>
            <a:ext cx="8229600" cy="411480"/>
          </a:xfrm>
          <a:prstGeom prst="rect">
            <a:avLst/>
          </a:prstGeom>
          <a:noFill/>
          <a:ln/>
        </p:spPr>
        <p:txBody>
          <a:bodyPr wrap="square" rtlCol="0" anchor="ctr"/>
          <a:lstStyle/>
          <a:p>
            <a:pPr algn="ctr" indent="0" marL="0">
              <a:buNone/>
            </a:pPr>
            <a:r>
              <a:rPr lang="en-US" sz="1700" i="1" dirty="0">
                <a:solidFill>
                  <a:srgbClr val="D6E4F7"/>
                </a:solidFill>
                <a:latin typeface="Calibri" pitchFamily="34" charset="0"/>
                <a:ea typeface="Calibri" pitchFamily="34" charset="-122"/>
                <a:cs typeface="Calibri" pitchFamily="34" charset="-120"/>
              </a:rPr>
              <a:t>Étude et comparaison de correcteurs P / PI / PD / PID</a:t>
            </a:r>
            <a:endParaRPr lang="en-US" sz="1700" dirty="0"/>
          </a:p>
        </p:txBody>
      </p:sp>
      <p:sp>
        <p:nvSpPr>
          <p:cNvPr id="5" name="Shape 3"/>
          <p:cNvSpPr/>
          <p:nvPr/>
        </p:nvSpPr>
        <p:spPr>
          <a:xfrm>
            <a:off x="2286000" y="2194560"/>
            <a:ext cx="4572000" cy="0"/>
          </a:xfrm>
          <a:prstGeom prst="line">
            <a:avLst/>
          </a:prstGeom>
          <a:noFill/>
          <a:ln w="19050">
            <a:solidFill>
              <a:srgbClr val="D6E4F7"/>
            </a:solidFill>
            <a:prstDash val="solid"/>
          </a:ln>
        </p:spPr>
      </p:sp>
      <p:sp>
        <p:nvSpPr>
          <p:cNvPr id="6" name="Text 4"/>
          <p:cNvSpPr/>
          <p:nvPr/>
        </p:nvSpPr>
        <p:spPr>
          <a:xfrm>
            <a:off x="457200" y="2377440"/>
            <a:ext cx="8229600" cy="320040"/>
          </a:xfrm>
          <a:prstGeom prst="rect">
            <a:avLst/>
          </a:prstGeom>
          <a:noFill/>
          <a:ln/>
        </p:spPr>
        <p:txBody>
          <a:bodyPr wrap="square" rtlCol="0" anchor="ctr"/>
          <a:lstStyle/>
          <a:p>
            <a:pPr algn="ctr" indent="0" marL="0">
              <a:buNone/>
            </a:pPr>
            <a:r>
              <a:rPr lang="en-US" sz="1300" dirty="0">
                <a:solidFill>
                  <a:srgbClr val="A0B4D4"/>
                </a:solidFill>
                <a:latin typeface="Calibri" pitchFamily="34" charset="0"/>
                <a:ea typeface="Calibri" pitchFamily="34" charset="-122"/>
                <a:cs typeface="Calibri" pitchFamily="34" charset="-120"/>
              </a:rPr>
              <a:t>TIPE — CPGE PT</a:t>
            </a:r>
            <a:endParaRPr lang="en-US" sz="1300" dirty="0"/>
          </a:p>
        </p:txBody>
      </p:sp>
      <p:sp>
        <p:nvSpPr>
          <p:cNvPr id="7" name="Text 5"/>
          <p:cNvSpPr/>
          <p:nvPr/>
        </p:nvSpPr>
        <p:spPr>
          <a:xfrm>
            <a:off x="457200" y="2697480"/>
            <a:ext cx="8229600" cy="320040"/>
          </a:xfrm>
          <a:prstGeom prst="rect">
            <a:avLst/>
          </a:prstGeom>
          <a:noFill/>
          <a:ln/>
        </p:spPr>
        <p:txBody>
          <a:bodyPr wrap="square" rtlCol="0" anchor="ctr"/>
          <a:lstStyle/>
          <a:p>
            <a:pPr algn="ctr" indent="0" marL="0">
              <a:buNone/>
            </a:pPr>
            <a:r>
              <a:rPr lang="en-US" sz="1300" dirty="0">
                <a:solidFill>
                  <a:srgbClr val="A0B4D4"/>
                </a:solidFill>
                <a:latin typeface="Calibri" pitchFamily="34" charset="0"/>
                <a:ea typeface="Calibri" pitchFamily="34" charset="-122"/>
                <a:cs typeface="Calibri" pitchFamily="34" charset="-120"/>
              </a:rPr>
              <a:t>Thème 2024–2025 : Cycles et boucles</a:t>
            </a:r>
            <a:endParaRPr lang="en-US" sz="1300" dirty="0"/>
          </a:p>
        </p:txBody>
      </p:sp>
      <p:sp>
        <p:nvSpPr>
          <p:cNvPr id="8" name="Shape 6"/>
          <p:cNvSpPr/>
          <p:nvPr/>
        </p:nvSpPr>
        <p:spPr>
          <a:xfrm>
            <a:off x="2286000" y="5394960"/>
            <a:ext cx="1371600" cy="283464"/>
          </a:xfrm>
          <a:prstGeom prst="roundRect">
            <a:avLst>
              <a:gd name="adj" fmla="val 19355"/>
            </a:avLst>
          </a:prstGeom>
          <a:solidFill>
            <a:srgbClr val="2563EB"/>
          </a:solidFill>
          <a:ln w="12700">
            <a:solidFill>
              <a:srgbClr val="2563EB"/>
            </a:solidFill>
            <a:prstDash val="solid"/>
          </a:ln>
        </p:spPr>
      </p:sp>
      <p:sp>
        <p:nvSpPr>
          <p:cNvPr id="9" name="Text 7"/>
          <p:cNvSpPr/>
          <p:nvPr/>
        </p:nvSpPr>
        <p:spPr>
          <a:xfrm>
            <a:off x="2286000" y="5394960"/>
            <a:ext cx="137160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Automatique</a:t>
            </a:r>
            <a:endParaRPr lang="en-US" sz="1100" dirty="0"/>
          </a:p>
        </p:txBody>
      </p:sp>
      <p:sp>
        <p:nvSpPr>
          <p:cNvPr id="10" name="Shape 8"/>
          <p:cNvSpPr/>
          <p:nvPr/>
        </p:nvSpPr>
        <p:spPr>
          <a:xfrm>
            <a:off x="3931920" y="5394960"/>
            <a:ext cx="1371600" cy="283464"/>
          </a:xfrm>
          <a:prstGeom prst="roundRect">
            <a:avLst>
              <a:gd name="adj" fmla="val 19355"/>
            </a:avLst>
          </a:prstGeom>
          <a:solidFill>
            <a:srgbClr val="1E6B3C"/>
          </a:solidFill>
          <a:ln w="12700">
            <a:solidFill>
              <a:srgbClr val="1E6B3C"/>
            </a:solidFill>
            <a:prstDash val="solid"/>
          </a:ln>
        </p:spPr>
      </p:sp>
      <p:sp>
        <p:nvSpPr>
          <p:cNvPr id="11" name="Text 9"/>
          <p:cNvSpPr/>
          <p:nvPr/>
        </p:nvSpPr>
        <p:spPr>
          <a:xfrm>
            <a:off x="3931920" y="5394960"/>
            <a:ext cx="137160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Arduino</a:t>
            </a:r>
            <a:endParaRPr lang="en-US" sz="1100" dirty="0"/>
          </a:p>
        </p:txBody>
      </p:sp>
      <p:sp>
        <p:nvSpPr>
          <p:cNvPr id="12" name="Shape 10"/>
          <p:cNvSpPr/>
          <p:nvPr/>
        </p:nvSpPr>
        <p:spPr>
          <a:xfrm>
            <a:off x="5577840" y="5394960"/>
            <a:ext cx="1371600" cy="283464"/>
          </a:xfrm>
          <a:prstGeom prst="roundRect">
            <a:avLst>
              <a:gd name="adj" fmla="val 19355"/>
            </a:avLst>
          </a:prstGeom>
          <a:solidFill>
            <a:srgbClr val="C0392B"/>
          </a:solidFill>
          <a:ln w="12700">
            <a:solidFill>
              <a:srgbClr val="C0392B"/>
            </a:solidFill>
            <a:prstDash val="solid"/>
          </a:ln>
        </p:spPr>
      </p:sp>
      <p:sp>
        <p:nvSpPr>
          <p:cNvPr id="13" name="Text 11"/>
          <p:cNvSpPr/>
          <p:nvPr/>
        </p:nvSpPr>
        <p:spPr>
          <a:xfrm>
            <a:off x="5577840" y="5394960"/>
            <a:ext cx="137160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E5A"/>
        </a:solidFill>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Problématique et ancrage au thème</a:t>
            </a:r>
            <a:endParaRPr lang="en-US" sz="2600" dirty="0"/>
          </a:p>
        </p:txBody>
      </p:sp>
      <p:sp>
        <p:nvSpPr>
          <p:cNvPr id="3" name="Text 1"/>
          <p:cNvSpPr/>
          <p:nvPr/>
        </p:nvSpPr>
        <p:spPr>
          <a:xfrm>
            <a:off x="365760" y="658368"/>
            <a:ext cx="8412480" cy="292608"/>
          </a:xfrm>
          <a:prstGeom prst="rect">
            <a:avLst/>
          </a:prstGeom>
          <a:noFill/>
          <a:ln/>
        </p:spPr>
        <p:txBody>
          <a:bodyPr wrap="square" rtlCol="0" anchor="ctr"/>
          <a:lstStyle/>
          <a:p>
            <a:pPr algn="l" indent="0" marL="0">
              <a:buNone/>
            </a:pPr>
            <a:r>
              <a:rPr lang="en-US" sz="1400" i="1" dirty="0">
                <a:solidFill>
                  <a:srgbClr val="D6E4F7"/>
                </a:solidFill>
                <a:latin typeface="Calibri" pitchFamily="34" charset="0"/>
                <a:ea typeface="Calibri" pitchFamily="34" charset="-122"/>
                <a:cs typeface="Calibri" pitchFamily="34" charset="-120"/>
              </a:rPr>
              <a:t>Cycles et boucles — la boucle fermée de régulation</a:t>
            </a:r>
            <a:endParaRPr lang="en-US" sz="1400" dirty="0"/>
          </a:p>
        </p:txBody>
      </p:sp>
      <p:sp>
        <p:nvSpPr>
          <p:cNvPr id="4" name="Shape 2"/>
          <p:cNvSpPr/>
          <p:nvPr/>
        </p:nvSpPr>
        <p:spPr>
          <a:xfrm>
            <a:off x="320040" y="1097280"/>
            <a:ext cx="1463040" cy="438912"/>
          </a:xfrm>
          <a:prstGeom prst="roundRect">
            <a:avLst>
              <a:gd name="adj" fmla="val 16667"/>
            </a:avLst>
          </a:prstGeom>
          <a:solidFill>
            <a:srgbClr val="2563EB"/>
          </a:solidFill>
          <a:ln w="12700">
            <a:solidFill>
              <a:srgbClr val="2563EB"/>
            </a:solidFill>
            <a:prstDash val="solid"/>
          </a:ln>
        </p:spPr>
      </p:sp>
      <p:sp>
        <p:nvSpPr>
          <p:cNvPr id="5" name="Text 3"/>
          <p:cNvSpPr/>
          <p:nvPr/>
        </p:nvSpPr>
        <p:spPr>
          <a:xfrm>
            <a:off x="320040" y="1097280"/>
            <a:ext cx="146304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Consigne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Vc</a:t>
            </a:r>
            <a:endParaRPr lang="en-US" sz="1000" dirty="0"/>
          </a:p>
        </p:txBody>
      </p:sp>
      <p:sp>
        <p:nvSpPr>
          <p:cNvPr id="6" name="Shape 4"/>
          <p:cNvSpPr/>
          <p:nvPr/>
        </p:nvSpPr>
        <p:spPr>
          <a:xfrm>
            <a:off x="2148840" y="1097280"/>
            <a:ext cx="1463040" cy="438912"/>
          </a:xfrm>
          <a:prstGeom prst="roundRect">
            <a:avLst>
              <a:gd name="adj" fmla="val 16667"/>
            </a:avLst>
          </a:prstGeom>
          <a:solidFill>
            <a:srgbClr val="1A2E5A"/>
          </a:solidFill>
          <a:ln w="12700">
            <a:solidFill>
              <a:srgbClr val="1A2E5A"/>
            </a:solidFill>
            <a:prstDash val="solid"/>
          </a:ln>
        </p:spPr>
      </p:sp>
      <p:sp>
        <p:nvSpPr>
          <p:cNvPr id="7" name="Text 5"/>
          <p:cNvSpPr/>
          <p:nvPr/>
        </p:nvSpPr>
        <p:spPr>
          <a:xfrm>
            <a:off x="2148840" y="1097280"/>
            <a:ext cx="146304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Correcteur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PID</a:t>
            </a:r>
            <a:endParaRPr lang="en-US" sz="1000" dirty="0"/>
          </a:p>
        </p:txBody>
      </p:sp>
      <p:sp>
        <p:nvSpPr>
          <p:cNvPr id="8" name="Shape 6"/>
          <p:cNvSpPr/>
          <p:nvPr/>
        </p:nvSpPr>
        <p:spPr>
          <a:xfrm>
            <a:off x="3886200" y="1097280"/>
            <a:ext cx="1463040" cy="438912"/>
          </a:xfrm>
          <a:prstGeom prst="roundRect">
            <a:avLst>
              <a:gd name="adj" fmla="val 16667"/>
            </a:avLst>
          </a:prstGeom>
          <a:solidFill>
            <a:srgbClr val="1E6B3C"/>
          </a:solidFill>
          <a:ln w="12700">
            <a:solidFill>
              <a:srgbClr val="1E6B3C"/>
            </a:solidFill>
            <a:prstDash val="solid"/>
          </a:ln>
        </p:spPr>
      </p:sp>
      <p:sp>
        <p:nvSpPr>
          <p:cNvPr id="9" name="Text 7"/>
          <p:cNvSpPr/>
          <p:nvPr/>
        </p:nvSpPr>
        <p:spPr>
          <a:xfrm>
            <a:off x="3886200" y="1097280"/>
            <a:ext cx="146304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Moteur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+L298N</a:t>
            </a:r>
            <a:endParaRPr lang="en-US" sz="1000" dirty="0"/>
          </a:p>
        </p:txBody>
      </p:sp>
      <p:sp>
        <p:nvSpPr>
          <p:cNvPr id="10" name="Shape 8"/>
          <p:cNvSpPr/>
          <p:nvPr/>
        </p:nvSpPr>
        <p:spPr>
          <a:xfrm>
            <a:off x="5623560" y="1097280"/>
            <a:ext cx="1463040" cy="438912"/>
          </a:xfrm>
          <a:prstGeom prst="roundRect">
            <a:avLst>
              <a:gd name="adj" fmla="val 16667"/>
            </a:avLst>
          </a:prstGeom>
          <a:solidFill>
            <a:srgbClr val="7D6608"/>
          </a:solidFill>
          <a:ln w="12700">
            <a:solidFill>
              <a:srgbClr val="7D6608"/>
            </a:solidFill>
            <a:prstDash val="solid"/>
          </a:ln>
        </p:spPr>
      </p:sp>
      <p:sp>
        <p:nvSpPr>
          <p:cNvPr id="11" name="Text 9"/>
          <p:cNvSpPr/>
          <p:nvPr/>
        </p:nvSpPr>
        <p:spPr>
          <a:xfrm>
            <a:off x="5623560" y="1097280"/>
            <a:ext cx="146304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Voiture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 d)</a:t>
            </a:r>
            <a:endParaRPr lang="en-US" sz="1000" dirty="0"/>
          </a:p>
        </p:txBody>
      </p:sp>
      <p:sp>
        <p:nvSpPr>
          <p:cNvPr id="12" name="Shape 10"/>
          <p:cNvSpPr/>
          <p:nvPr/>
        </p:nvSpPr>
        <p:spPr>
          <a:xfrm>
            <a:off x="1783080" y="1316736"/>
            <a:ext cx="320040" cy="0"/>
          </a:xfrm>
          <a:prstGeom prst="line">
            <a:avLst/>
          </a:prstGeom>
          <a:noFill/>
          <a:ln w="25400">
            <a:solidFill>
              <a:srgbClr val="D6E4F7"/>
            </a:solidFill>
            <a:prstDash val="solid"/>
          </a:ln>
        </p:spPr>
      </p:sp>
      <p:sp>
        <p:nvSpPr>
          <p:cNvPr id="13" name="Shape 11"/>
          <p:cNvSpPr/>
          <p:nvPr/>
        </p:nvSpPr>
        <p:spPr>
          <a:xfrm>
            <a:off x="3611880" y="1316736"/>
            <a:ext cx="320040" cy="0"/>
          </a:xfrm>
          <a:prstGeom prst="line">
            <a:avLst/>
          </a:prstGeom>
          <a:noFill/>
          <a:ln w="25400">
            <a:solidFill>
              <a:srgbClr val="D6E4F7"/>
            </a:solidFill>
            <a:prstDash val="solid"/>
          </a:ln>
        </p:spPr>
      </p:sp>
      <p:sp>
        <p:nvSpPr>
          <p:cNvPr id="14" name="Shape 12"/>
          <p:cNvSpPr/>
          <p:nvPr/>
        </p:nvSpPr>
        <p:spPr>
          <a:xfrm>
            <a:off x="5349240" y="1316736"/>
            <a:ext cx="320040" cy="0"/>
          </a:xfrm>
          <a:prstGeom prst="line">
            <a:avLst/>
          </a:prstGeom>
          <a:noFill/>
          <a:ln w="25400">
            <a:solidFill>
              <a:srgbClr val="D6E4F7"/>
            </a:solidFill>
            <a:prstDash val="solid"/>
          </a:ln>
        </p:spPr>
      </p:sp>
      <p:sp>
        <p:nvSpPr>
          <p:cNvPr id="15" name="Shape 13"/>
          <p:cNvSpPr/>
          <p:nvPr/>
        </p:nvSpPr>
        <p:spPr>
          <a:xfrm>
            <a:off x="6355080" y="1536192"/>
            <a:ext cx="0" cy="548640"/>
          </a:xfrm>
          <a:prstGeom prst="line">
            <a:avLst/>
          </a:prstGeom>
          <a:noFill/>
          <a:ln w="19050">
            <a:solidFill>
              <a:srgbClr val="C0392B"/>
            </a:solidFill>
            <a:prstDash val="solid"/>
          </a:ln>
        </p:spPr>
      </p:sp>
      <p:sp>
        <p:nvSpPr>
          <p:cNvPr id="16" name="Shape 14"/>
          <p:cNvSpPr/>
          <p:nvPr/>
        </p:nvSpPr>
        <p:spPr>
          <a:xfrm>
            <a:off x="594360" y="2084832"/>
            <a:ext cx="5760720" cy="0"/>
          </a:xfrm>
          <a:prstGeom prst="line">
            <a:avLst/>
          </a:prstGeom>
          <a:noFill/>
          <a:ln w="19050">
            <a:solidFill>
              <a:srgbClr val="C0392B"/>
            </a:solidFill>
            <a:prstDash val="dash"/>
          </a:ln>
        </p:spPr>
      </p:sp>
      <p:sp>
        <p:nvSpPr>
          <p:cNvPr id="17" name="Shape 15"/>
          <p:cNvSpPr/>
          <p:nvPr/>
        </p:nvSpPr>
        <p:spPr>
          <a:xfrm>
            <a:off x="594360" y="1316736"/>
            <a:ext cx="0" cy="768096"/>
          </a:xfrm>
          <a:prstGeom prst="line">
            <a:avLst/>
          </a:prstGeom>
          <a:noFill/>
          <a:ln w="19050">
            <a:solidFill>
              <a:srgbClr val="C0392B"/>
            </a:solidFill>
            <a:prstDash val="solid"/>
          </a:ln>
        </p:spPr>
      </p:sp>
      <p:sp>
        <p:nvSpPr>
          <p:cNvPr id="18" name="Text 16"/>
          <p:cNvSpPr/>
          <p:nvPr/>
        </p:nvSpPr>
        <p:spPr>
          <a:xfrm>
            <a:off x="1234440" y="2103120"/>
            <a:ext cx="4114800" cy="256032"/>
          </a:xfrm>
          <a:prstGeom prst="rect">
            <a:avLst/>
          </a:prstGeom>
          <a:noFill/>
          <a:ln/>
        </p:spPr>
        <p:txBody>
          <a:bodyPr wrap="square"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Mesure Hall / HC-SR04</a:t>
            </a:r>
            <a:endParaRPr lang="en-US" sz="1000" dirty="0"/>
          </a:p>
        </p:txBody>
      </p:sp>
      <p:sp>
        <p:nvSpPr>
          <p:cNvPr id="19" name="Text 17"/>
          <p:cNvSpPr/>
          <p:nvPr/>
        </p:nvSpPr>
        <p:spPr>
          <a:xfrm>
            <a:off x="1874520" y="2404872"/>
            <a:ext cx="1828800"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ε = Vc − v</a:t>
            </a:r>
            <a:endParaRPr lang="en-US" sz="1100" dirty="0"/>
          </a:p>
        </p:txBody>
      </p:sp>
      <p:sp>
        <p:nvSpPr>
          <p:cNvPr id="20" name="Shape 18"/>
          <p:cNvSpPr/>
          <p:nvPr/>
        </p:nvSpPr>
        <p:spPr>
          <a:xfrm>
            <a:off x="320040" y="3246120"/>
            <a:ext cx="8503920" cy="1097280"/>
          </a:xfrm>
          <a:prstGeom prst="roundRect">
            <a:avLst>
              <a:gd name="adj" fmla="val 8333"/>
            </a:avLst>
          </a:prstGeom>
          <a:solidFill>
            <a:srgbClr val="EBF2FF"/>
          </a:solidFill>
          <a:ln w="19050">
            <a:solidFill>
              <a:srgbClr val="2563EB"/>
            </a:solidFill>
            <a:prstDash val="solid"/>
          </a:ln>
          <a:effectLst>
            <a:outerShdw sx="100000" sy="100000" kx="0" ky="0" algn="bl" rotWithShape="0" blurRad="76200" dist="25400" dir="2700000">
              <a:srgbClr val="000000">
                <a:alpha val="13000"/>
              </a:srgbClr>
            </a:outerShdw>
          </a:effectLst>
        </p:spPr>
      </p:sp>
      <p:sp>
        <p:nvSpPr>
          <p:cNvPr id="21" name="Text 19"/>
          <p:cNvSpPr/>
          <p:nvPr/>
        </p:nvSpPr>
        <p:spPr>
          <a:xfrm>
            <a:off x="502920" y="3291840"/>
            <a:ext cx="8138160" cy="960120"/>
          </a:xfrm>
          <a:prstGeom prst="rect">
            <a:avLst/>
          </a:prstGeom>
          <a:noFill/>
          <a:ln/>
        </p:spPr>
        <p:txBody>
          <a:bodyPr wrap="square" rtlCol="0" anchor="ctr"/>
          <a:lstStyle/>
          <a:p>
            <a:pPr indent="0" marL="0">
              <a:buNone/>
            </a:pPr>
            <a:r>
              <a:rPr lang="en-US" sz="1300" b="1" dirty="0">
                <a:solidFill>
                  <a:srgbClr val="1A2E5A"/>
                </a:solidFill>
                <a:latin typeface="Calibri" pitchFamily="34" charset="0"/>
                <a:ea typeface="Calibri" pitchFamily="34" charset="-122"/>
                <a:cs typeface="Calibri" pitchFamily="34" charset="-120"/>
              </a:rPr>
              <a:t>Problématique : </a:t>
            </a:r>
            <a:pPr indent="0" marL="0">
              <a:buNone/>
            </a:pPr>
            <a:r>
              <a:rPr lang="en-US" sz="1300" dirty="0">
                <a:solidFill>
                  <a:srgbClr val="1E293B"/>
                </a:solidFill>
                <a:latin typeface="Calibri" pitchFamily="34" charset="0"/>
                <a:ea typeface="Calibri" pitchFamily="34" charset="-122"/>
                <a:cs typeface="Calibri" pitchFamily="34" charset="-120"/>
              </a:rPr>
              <a:t>Quel correcteur (P / PI / PD / PID) associé à une commande par anticipation (feedforward) offre le meilleur compromis stabilité / précision / temps de réponse</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pour un régulateur de vitesse adaptatif sur voiture RC ?</a:t>
            </a:r>
            <a:endParaRPr lang="en-US" sz="1300" dirty="0"/>
          </a:p>
        </p:txBody>
      </p:sp>
      <p:sp>
        <p:nvSpPr>
          <p:cNvPr id="22" name="Text 20"/>
          <p:cNvSpPr/>
          <p:nvPr/>
        </p:nvSpPr>
        <p:spPr>
          <a:xfrm>
            <a:off x="320040" y="4434840"/>
            <a:ext cx="8503920" cy="457200"/>
          </a:xfrm>
          <a:prstGeom prst="rect">
            <a:avLst/>
          </a:prstGeom>
          <a:noFill/>
          <a:ln/>
        </p:spPr>
        <p:txBody>
          <a:bodyPr wrap="square" rtlCol="0" anchor="ctr"/>
          <a:lstStyle/>
          <a:p>
            <a:pPr indent="0" marL="0">
              <a:buNone/>
            </a:pPr>
            <a:r>
              <a:rPr lang="en-US" sz="1200" b="1" dirty="0">
                <a:solidFill>
                  <a:srgbClr val="1A2E5A"/>
                </a:solidFill>
                <a:latin typeface="Calibri" pitchFamily="34" charset="0"/>
                <a:ea typeface="Calibri" pitchFamily="34" charset="-122"/>
                <a:cs typeface="Calibri" pitchFamily="34" charset="-120"/>
              </a:rPr>
              <a:t>Ancrage : </a:t>
            </a:r>
            <a:pPr indent="0" marL="0">
              <a:buNone/>
            </a:pPr>
            <a:r>
              <a:rPr lang="en-US" sz="1200" dirty="0">
                <a:solidFill>
                  <a:srgbClr val="64748B"/>
                </a:solidFill>
                <a:latin typeface="Calibri" pitchFamily="34" charset="0"/>
                <a:ea typeface="Calibri" pitchFamily="34" charset="-122"/>
                <a:cs typeface="Calibri" pitchFamily="34" charset="-120"/>
              </a:rPr>
              <a:t>La boucle de régulation est un cycle discret d'échantillonnage — mesure → calcul → action — exécuté toutes les 50 ms. C'est le « cycle » du thème.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Maquette expérimentale</a:t>
            </a:r>
            <a:endParaRPr lang="en-US" sz="2400" dirty="0"/>
          </a:p>
        </p:txBody>
      </p:sp>
      <p:sp>
        <p:nvSpPr>
          <p:cNvPr id="3" name="Shape 1"/>
          <p:cNvSpPr/>
          <p:nvPr/>
        </p:nvSpPr>
        <p:spPr>
          <a:xfrm>
            <a:off x="320040" y="914400"/>
            <a:ext cx="4114800" cy="822960"/>
          </a:xfrm>
          <a:prstGeom prst="roundRect">
            <a:avLst>
              <a:gd name="adj" fmla="val 11111"/>
            </a:avLst>
          </a:prstGeom>
          <a:solidFill>
            <a:srgbClr val="EEF4FF"/>
          </a:solidFill>
          <a:ln w="15240">
            <a:solidFill>
              <a:srgbClr val="1A2E5A"/>
            </a:solidFill>
            <a:prstDash val="solid"/>
          </a:ln>
          <a:effectLst>
            <a:outerShdw sx="100000" sy="100000" kx="0" ky="0" algn="bl" rotWithShape="0" blurRad="76200" dist="25400" dir="2700000">
              <a:srgbClr val="000000">
                <a:alpha val="13000"/>
              </a:srgbClr>
            </a:outerShdw>
          </a:effectLst>
        </p:spPr>
      </p:sp>
      <p:sp>
        <p:nvSpPr>
          <p:cNvPr id="4" name="Text 2"/>
          <p:cNvSpPr/>
          <p:nvPr/>
        </p:nvSpPr>
        <p:spPr>
          <a:xfrm>
            <a:off x="429768" y="950976"/>
            <a:ext cx="3840480" cy="347472"/>
          </a:xfrm>
          <a:prstGeom prst="rect">
            <a:avLst/>
          </a:prstGeom>
          <a:noFill/>
          <a:ln/>
        </p:spPr>
        <p:txBody>
          <a:bodyPr wrap="square" rtlCol="0" anchor="ctr"/>
          <a:lstStyle/>
          <a:p>
            <a:pPr indent="0" marL="0">
              <a:buNone/>
            </a:pPr>
            <a:r>
              <a:rPr lang="en-US" sz="1200" b="1" dirty="0">
                <a:solidFill>
                  <a:srgbClr val="1A2E5A"/>
                </a:solidFill>
                <a:latin typeface="Calibri" pitchFamily="34" charset="0"/>
                <a:ea typeface="Calibri" pitchFamily="34" charset="-122"/>
                <a:cs typeface="Calibri" pitchFamily="34" charset="-120"/>
              </a:rPr>
              <a:t>🎛  Arduino Nano Every</a:t>
            </a:r>
            <a:endParaRPr lang="en-US" sz="1200" dirty="0"/>
          </a:p>
        </p:txBody>
      </p:sp>
      <p:sp>
        <p:nvSpPr>
          <p:cNvPr id="5" name="Text 3"/>
          <p:cNvSpPr/>
          <p:nvPr/>
        </p:nvSpPr>
        <p:spPr>
          <a:xfrm>
            <a:off x="429768" y="1316736"/>
            <a:ext cx="3840480" cy="32918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Microcontrôleur 20 MHz — boucle 50 ms</a:t>
            </a:r>
            <a:endParaRPr lang="en-US" sz="1100" dirty="0"/>
          </a:p>
        </p:txBody>
      </p:sp>
      <p:sp>
        <p:nvSpPr>
          <p:cNvPr id="6" name="Shape 4"/>
          <p:cNvSpPr/>
          <p:nvPr/>
        </p:nvSpPr>
        <p:spPr>
          <a:xfrm>
            <a:off x="320040" y="1874520"/>
            <a:ext cx="4114800" cy="822960"/>
          </a:xfrm>
          <a:prstGeom prst="roundRect">
            <a:avLst>
              <a:gd name="adj" fmla="val 11111"/>
            </a:avLst>
          </a:prstGeom>
          <a:solidFill>
            <a:srgbClr val="EEF4FF"/>
          </a:solidFill>
          <a:ln w="15240">
            <a:solidFill>
              <a:srgbClr val="1E6B3C"/>
            </a:solidFill>
            <a:prstDash val="solid"/>
          </a:ln>
          <a:effectLst>
            <a:outerShdw sx="100000" sy="100000" kx="0" ky="0" algn="bl" rotWithShape="0" blurRad="76200" dist="25400" dir="2700000">
              <a:srgbClr val="000000">
                <a:alpha val="13000"/>
              </a:srgbClr>
            </a:outerShdw>
          </a:effectLst>
        </p:spPr>
      </p:sp>
      <p:sp>
        <p:nvSpPr>
          <p:cNvPr id="7" name="Text 5"/>
          <p:cNvSpPr/>
          <p:nvPr/>
        </p:nvSpPr>
        <p:spPr>
          <a:xfrm>
            <a:off x="429768" y="1911096"/>
            <a:ext cx="3840480" cy="347472"/>
          </a:xfrm>
          <a:prstGeom prst="rect">
            <a:avLst/>
          </a:prstGeom>
          <a:noFill/>
          <a:ln/>
        </p:spPr>
        <p:txBody>
          <a:bodyPr wrap="square" rtlCol="0" anchor="ctr"/>
          <a:lstStyle/>
          <a:p>
            <a:pPr indent="0" marL="0">
              <a:buNone/>
            </a:pPr>
            <a:r>
              <a:rPr lang="en-US" sz="1200" b="1" dirty="0">
                <a:solidFill>
                  <a:srgbClr val="1E6B3C"/>
                </a:solidFill>
                <a:latin typeface="Calibri" pitchFamily="34" charset="0"/>
                <a:ea typeface="Calibri" pitchFamily="34" charset="-122"/>
                <a:cs typeface="Calibri" pitchFamily="34" charset="-120"/>
              </a:rPr>
              <a:t>⚡  Pont en H L298N</a:t>
            </a:r>
            <a:endParaRPr lang="en-US" sz="1200" dirty="0"/>
          </a:p>
        </p:txBody>
      </p:sp>
      <p:sp>
        <p:nvSpPr>
          <p:cNvPr id="8" name="Text 6"/>
          <p:cNvSpPr/>
          <p:nvPr/>
        </p:nvSpPr>
        <p:spPr>
          <a:xfrm>
            <a:off x="429768" y="2276856"/>
            <a:ext cx="3840480" cy="32918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Commande PWM du moteur RC390</a:t>
            </a:r>
            <a:endParaRPr lang="en-US" sz="1100" dirty="0"/>
          </a:p>
        </p:txBody>
      </p:sp>
      <p:sp>
        <p:nvSpPr>
          <p:cNvPr id="9" name="Shape 7"/>
          <p:cNvSpPr/>
          <p:nvPr/>
        </p:nvSpPr>
        <p:spPr>
          <a:xfrm>
            <a:off x="320040" y="2834640"/>
            <a:ext cx="4114800" cy="822960"/>
          </a:xfrm>
          <a:prstGeom prst="roundRect">
            <a:avLst>
              <a:gd name="adj" fmla="val 11111"/>
            </a:avLst>
          </a:prstGeom>
          <a:solidFill>
            <a:srgbClr val="EEF4FF"/>
          </a:solidFill>
          <a:ln w="15240">
            <a:solidFill>
              <a:srgbClr val="C0392B"/>
            </a:solidFill>
            <a:prstDash val="solid"/>
          </a:ln>
          <a:effectLst>
            <a:outerShdw sx="100000" sy="100000" kx="0" ky="0" algn="bl" rotWithShape="0" blurRad="76200" dist="25400" dir="2700000">
              <a:srgbClr val="000000">
                <a:alpha val="13000"/>
              </a:srgbClr>
            </a:outerShdw>
          </a:effectLst>
        </p:spPr>
      </p:sp>
      <p:sp>
        <p:nvSpPr>
          <p:cNvPr id="10" name="Text 8"/>
          <p:cNvSpPr/>
          <p:nvPr/>
        </p:nvSpPr>
        <p:spPr>
          <a:xfrm>
            <a:off x="429768" y="2871216"/>
            <a:ext cx="3840480" cy="347472"/>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HC-SR04</a:t>
            </a:r>
            <a:endParaRPr lang="en-US" sz="1200" dirty="0"/>
          </a:p>
        </p:txBody>
      </p:sp>
      <p:sp>
        <p:nvSpPr>
          <p:cNvPr id="11" name="Text 9"/>
          <p:cNvSpPr/>
          <p:nvPr/>
        </p:nvSpPr>
        <p:spPr>
          <a:xfrm>
            <a:off x="429768" y="3236976"/>
            <a:ext cx="3840480" cy="32918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Mesure de distance 2 cm–1,2 m</a:t>
            </a:r>
            <a:endParaRPr lang="en-US" sz="1100" dirty="0"/>
          </a:p>
        </p:txBody>
      </p:sp>
      <p:sp>
        <p:nvSpPr>
          <p:cNvPr id="12" name="Shape 10"/>
          <p:cNvSpPr/>
          <p:nvPr/>
        </p:nvSpPr>
        <p:spPr>
          <a:xfrm>
            <a:off x="4709160" y="914400"/>
            <a:ext cx="4114800" cy="822960"/>
          </a:xfrm>
          <a:prstGeom prst="roundRect">
            <a:avLst>
              <a:gd name="adj" fmla="val 11111"/>
            </a:avLst>
          </a:prstGeom>
          <a:solidFill>
            <a:srgbClr val="EEF4FF"/>
          </a:solidFill>
          <a:ln w="15240">
            <a:solidFill>
              <a:srgbClr val="7D6608"/>
            </a:solidFill>
            <a:prstDash val="solid"/>
          </a:ln>
          <a:effectLst>
            <a:outerShdw sx="100000" sy="100000" kx="0" ky="0" algn="bl" rotWithShape="0" blurRad="76200" dist="25400" dir="2700000">
              <a:srgbClr val="000000">
                <a:alpha val="13000"/>
              </a:srgbClr>
            </a:outerShdw>
          </a:effectLst>
        </p:spPr>
      </p:sp>
      <p:sp>
        <p:nvSpPr>
          <p:cNvPr id="13" name="Text 11"/>
          <p:cNvSpPr/>
          <p:nvPr/>
        </p:nvSpPr>
        <p:spPr>
          <a:xfrm>
            <a:off x="4818888" y="950976"/>
            <a:ext cx="3840480" cy="347472"/>
          </a:xfrm>
          <a:prstGeom prst="rect">
            <a:avLst/>
          </a:prstGeom>
          <a:noFill/>
          <a:ln/>
        </p:spPr>
        <p:txBody>
          <a:bodyPr wrap="square" rtlCol="0" anchor="ctr"/>
          <a:lstStyle/>
          <a:p>
            <a:pPr indent="0" marL="0">
              <a:buNone/>
            </a:pPr>
            <a:r>
              <a:rPr lang="en-US" sz="1200" b="1" dirty="0">
                <a:solidFill>
                  <a:srgbClr val="7D6608"/>
                </a:solidFill>
                <a:latin typeface="Calibri" pitchFamily="34" charset="0"/>
                <a:ea typeface="Calibri" pitchFamily="34" charset="-122"/>
                <a:cs typeface="Calibri" pitchFamily="34" charset="-120"/>
              </a:rPr>
              <a:t>🧲  Capteur Hall × 3 aimants</a:t>
            </a:r>
            <a:endParaRPr lang="en-US" sz="1200" dirty="0"/>
          </a:p>
        </p:txBody>
      </p:sp>
      <p:sp>
        <p:nvSpPr>
          <p:cNvPr id="14" name="Text 12"/>
          <p:cNvSpPr/>
          <p:nvPr/>
        </p:nvSpPr>
        <p:spPr>
          <a:xfrm>
            <a:off x="4818888" y="1316736"/>
            <a:ext cx="3840480" cy="32918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Mesure de vitesse par période</a:t>
            </a:r>
            <a:endParaRPr lang="en-US" sz="1100" dirty="0"/>
          </a:p>
        </p:txBody>
      </p:sp>
      <p:sp>
        <p:nvSpPr>
          <p:cNvPr id="15" name="Shape 13"/>
          <p:cNvSpPr/>
          <p:nvPr/>
        </p:nvSpPr>
        <p:spPr>
          <a:xfrm>
            <a:off x="4709160" y="1874520"/>
            <a:ext cx="4114800" cy="822960"/>
          </a:xfrm>
          <a:prstGeom prst="roundRect">
            <a:avLst>
              <a:gd name="adj" fmla="val 11111"/>
            </a:avLst>
          </a:prstGeom>
          <a:solidFill>
            <a:srgbClr val="EEF4FF"/>
          </a:solidFill>
          <a:ln w="15240">
            <a:solidFill>
              <a:srgbClr val="64748B"/>
            </a:solidFill>
            <a:prstDash val="solid"/>
          </a:ln>
          <a:effectLst>
            <a:outerShdw sx="100000" sy="100000" kx="0" ky="0" algn="bl" rotWithShape="0" blurRad="76200" dist="25400" dir="2700000">
              <a:srgbClr val="000000">
                <a:alpha val="13000"/>
              </a:srgbClr>
            </a:outerShdw>
          </a:effectLst>
        </p:spPr>
      </p:sp>
      <p:sp>
        <p:nvSpPr>
          <p:cNvPr id="16" name="Text 14"/>
          <p:cNvSpPr/>
          <p:nvPr/>
        </p:nvSpPr>
        <p:spPr>
          <a:xfrm>
            <a:off x="4818888" y="1911096"/>
            <a:ext cx="3840480" cy="347472"/>
          </a:xfrm>
          <a:prstGeom prst="rect">
            <a:avLst/>
          </a:prstGeom>
          <a:noFill/>
          <a:ln/>
        </p:spPr>
        <p:txBody>
          <a:bodyPr wrap="square"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  MicroSD (SPI)</a:t>
            </a:r>
            <a:endParaRPr lang="en-US" sz="1200" dirty="0"/>
          </a:p>
        </p:txBody>
      </p:sp>
      <p:sp>
        <p:nvSpPr>
          <p:cNvPr id="17" name="Text 15"/>
          <p:cNvSpPr/>
          <p:nvPr/>
        </p:nvSpPr>
        <p:spPr>
          <a:xfrm>
            <a:off x="4818888" y="2276856"/>
            <a:ext cx="3840480" cy="32918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Enregistrement CSV 10 Hz</a:t>
            </a:r>
            <a:endParaRPr lang="en-US" sz="1100" dirty="0"/>
          </a:p>
        </p:txBody>
      </p:sp>
      <p:sp>
        <p:nvSpPr>
          <p:cNvPr id="18" name="Text 16"/>
          <p:cNvSpPr/>
          <p:nvPr/>
        </p:nvSpPr>
        <p:spPr>
          <a:xfrm>
            <a:off x="320040" y="6217920"/>
            <a:ext cx="8503920" cy="347472"/>
          </a:xfrm>
          <a:prstGeom prst="rect">
            <a:avLst/>
          </a:prstGeom>
          <a:solidFill>
            <a:srgbClr val="1A2E5A"/>
          </a:solid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Vitesse cible : 0,70 m/s   |   Distance consigne : 0,30 m   |   Période boucle : 50 ms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Identification du moteur — modèle statique</a:t>
            </a:r>
            <a:endParaRPr lang="en-US" sz="2400" dirty="0"/>
          </a:p>
        </p:txBody>
      </p:sp>
      <p:sp>
        <p:nvSpPr>
          <p:cNvPr id="3" name="Shape 1"/>
          <p:cNvSpPr/>
          <p:nvPr/>
        </p:nvSpPr>
        <p:spPr>
          <a:xfrm>
            <a:off x="320040" y="822960"/>
            <a:ext cx="8503920" cy="868680"/>
          </a:xfrm>
          <a:prstGeom prst="roundRect">
            <a:avLst>
              <a:gd name="adj" fmla="val 10526"/>
            </a:avLst>
          </a:prstGeom>
          <a:solidFill>
            <a:srgbClr val="EBF2FF"/>
          </a:solidFill>
          <a:ln w="19050">
            <a:solidFill>
              <a:srgbClr val="2563EB"/>
            </a:solidFill>
            <a:prstDash val="solid"/>
          </a:ln>
        </p:spPr>
      </p:sp>
      <p:sp>
        <p:nvSpPr>
          <p:cNvPr id="4" name="Text 2"/>
          <p:cNvSpPr/>
          <p:nvPr/>
        </p:nvSpPr>
        <p:spPr>
          <a:xfrm>
            <a:off x="502920" y="841248"/>
            <a:ext cx="8138160" cy="274320"/>
          </a:xfrm>
          <a:prstGeom prst="rect">
            <a:avLst/>
          </a:prstGeom>
          <a:noFill/>
          <a:ln/>
        </p:spPr>
        <p:txBody>
          <a:bodyPr wrap="square" rtlCol="0" anchor="ctr"/>
          <a:lstStyle/>
          <a:p>
            <a:pPr indent="0" marL="0">
              <a:buNone/>
            </a:pPr>
            <a:r>
              <a:rPr lang="en-US" sz="1200" b="1" dirty="0">
                <a:solidFill>
                  <a:srgbClr val="1A2E5A"/>
                </a:solidFill>
                <a:latin typeface="Calibri" pitchFamily="34" charset="0"/>
                <a:ea typeface="Calibri" pitchFamily="34" charset="-122"/>
                <a:cs typeface="Calibri" pitchFamily="34" charset="-120"/>
              </a:rPr>
              <a:t>Modèle de premier ordre identifié :</a:t>
            </a:r>
            <a:endParaRPr lang="en-US" sz="1200" dirty="0"/>
          </a:p>
        </p:txBody>
      </p:sp>
      <p:sp>
        <p:nvSpPr>
          <p:cNvPr id="5" name="Text 3"/>
          <p:cNvSpPr/>
          <p:nvPr/>
        </p:nvSpPr>
        <p:spPr>
          <a:xfrm>
            <a:off x="502920" y="1115568"/>
            <a:ext cx="8138160" cy="411480"/>
          </a:xfrm>
          <a:prstGeom prst="rect">
            <a:avLst/>
          </a:prstGeom>
          <a:noFill/>
          <a:ln/>
        </p:spPr>
        <p:txBody>
          <a:bodyPr wrap="square" rtlCol="0" anchor="ctr"/>
          <a:lstStyle/>
          <a:p>
            <a:pPr algn="ctr" indent="0" marL="0">
              <a:buNone/>
            </a:pPr>
            <a:r>
              <a:rPr lang="en-US" sz="1500" b="1" dirty="0">
                <a:solidFill>
                  <a:srgbClr val="1A2E5A"/>
                </a:solidFill>
                <a:latin typeface="Cambria" pitchFamily="34" charset="0"/>
                <a:ea typeface="Cambria" pitchFamily="34" charset="-122"/>
                <a:cs typeface="Cambria" pitchFamily="34" charset="-120"/>
              </a:rPr>
              <a:t>v_éq = K × ( u_norm − θ )     avec     u_norm = PWM / 255</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1783080"/>
          <a:ext cx="8503920" cy="2560320"/>
        </p:xfrm>
        <a:graphic>
          <a:graphicData uri="http://schemas.openxmlformats.org/drawingml/2006/table">
            <a:tbl>
              <a:tblPr/>
              <a:tblGrid>
                <a:gridCol w="2194560"/>
                <a:gridCol w="1280160"/>
                <a:gridCol w="1645920"/>
                <a:gridCol w="33832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Paramètre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Symbole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Valeur</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Signification</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r>
              <a:tr h="45720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Gain statique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K</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1,40 m/s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Vitesse max à commande normalisée = 1</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r>
              <a:tr h="45720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Seuil de démarrage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θ</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0,30 (76 PWM)</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Commande minimale pour vaincre le frottement</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r>
              <a:tr h="45720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Constante de temps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τ</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200 ms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Temps de montée à 63 % de v_éq</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r>
              <a:tr h="45720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Feedforward</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U_FF</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204 PWM</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(Vc/K + θ) × 255 = (0,70/1,40 + 0,30) × 255</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F"/>
                    </a:solidFill>
                  </a:tcPr>
                </a:tc>
              </a:tr>
            </a:tbl>
          </a:graphicData>
        </a:graphic>
      </p:graphicFrame>
      <p:sp>
        <p:nvSpPr>
          <p:cNvPr id="7" name="Text 4"/>
          <p:cNvSpPr/>
          <p:nvPr/>
        </p:nvSpPr>
        <p:spPr>
          <a:xfrm>
            <a:off x="320040" y="4434840"/>
            <a:ext cx="8503920" cy="777240"/>
          </a:xfrm>
          <a:prstGeom prst="rect">
            <a:avLst/>
          </a:prstGeom>
          <a:noFill/>
          <a:ln/>
        </p:spPr>
        <p:txBody>
          <a:bodyPr wrap="square" rtlCol="0" anchor="ctr"/>
          <a:lstStyle/>
          <a:p>
            <a:pPr indent="0" marL="0">
              <a:buNone/>
            </a:pPr>
            <a:r>
              <a:rPr lang="en-US" sz="1150" b="1" dirty="0">
                <a:solidFill>
                  <a:srgbClr val="1A2E5A"/>
                </a:solidFill>
                <a:latin typeface="Calibri" pitchFamily="34" charset="0"/>
                <a:ea typeface="Calibri" pitchFamily="34" charset="-122"/>
                <a:cs typeface="Calibri" pitchFamily="34" charset="-120"/>
              </a:rPr>
              <a:t>Intérêt du feedforward : </a:t>
            </a:r>
            <a:pPr indent="0" marL="0">
              <a:buNone/>
            </a:pPr>
            <a:r>
              <a:rPr lang="en-US" sz="1150" dirty="0">
                <a:solidFill>
                  <a:srgbClr val="1E293B"/>
                </a:solidFill>
                <a:latin typeface="Calibri" pitchFamily="34" charset="0"/>
                <a:ea typeface="Calibri" pitchFamily="34" charset="-122"/>
                <a:cs typeface="Calibri" pitchFamily="34" charset="-120"/>
              </a:rPr>
              <a:t>U_FF positionne directement la commande au point d'équilibre. Le PID ne corrige que les écarts — architecture 2-DOF (two degrees of freedom). Sans FF, le correcteur P seul ne pourrait pas atteindre Vc à cause de l'erreur statique due à θ.</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Mesure de vitesse — deux méthodes complémentaires</a:t>
            </a:r>
            <a:endParaRPr lang="en-US" sz="2400" dirty="0"/>
          </a:p>
        </p:txBody>
      </p:sp>
      <p:sp>
        <p:nvSpPr>
          <p:cNvPr id="3" name="Shape 1"/>
          <p:cNvSpPr/>
          <p:nvPr/>
        </p:nvSpPr>
        <p:spPr>
          <a:xfrm>
            <a:off x="320040" y="914400"/>
            <a:ext cx="4160520" cy="2606040"/>
          </a:xfrm>
          <a:prstGeom prst="roundRect">
            <a:avLst>
              <a:gd name="adj" fmla="val 3509"/>
            </a:avLst>
          </a:prstGeom>
          <a:solidFill>
            <a:srgbClr val="EEF4FF"/>
          </a:solidFill>
          <a:ln w="19050">
            <a:solidFill>
              <a:srgbClr val="1A5276"/>
            </a:solidFill>
            <a:prstDash val="solid"/>
          </a:ln>
          <a:effectLst>
            <a:outerShdw sx="100000" sy="100000" kx="0" ky="0" algn="bl" rotWithShape="0" blurRad="76200" dist="25400" dir="2700000">
              <a:srgbClr val="000000">
                <a:alpha val="13000"/>
              </a:srgbClr>
            </a:outerShdw>
          </a:effectLst>
        </p:spPr>
      </p:sp>
      <p:sp>
        <p:nvSpPr>
          <p:cNvPr id="4" name="Text 2"/>
          <p:cNvSpPr/>
          <p:nvPr/>
        </p:nvSpPr>
        <p:spPr>
          <a:xfrm>
            <a:off x="457200" y="987552"/>
            <a:ext cx="3886200" cy="347472"/>
          </a:xfrm>
          <a:prstGeom prst="rect">
            <a:avLst/>
          </a:prstGeom>
          <a:noFill/>
          <a:ln/>
        </p:spPr>
        <p:txBody>
          <a:bodyPr wrap="square" rtlCol="0" anchor="ctr"/>
          <a:lstStyle/>
          <a:p>
            <a:pPr indent="0" marL="0">
              <a:buNone/>
            </a:pPr>
            <a:r>
              <a:rPr lang="en-US" sz="1300" b="1" dirty="0">
                <a:solidFill>
                  <a:srgbClr val="1A5276"/>
                </a:solidFill>
                <a:latin typeface="Calibri" pitchFamily="34" charset="0"/>
                <a:ea typeface="Calibri" pitchFamily="34" charset="-122"/>
                <a:cs typeface="Calibri" pitchFamily="34" charset="-120"/>
              </a:rPr>
              <a:t>① Fréquencemétrique</a:t>
            </a:r>
            <a:endParaRPr lang="en-US" sz="1300" dirty="0"/>
          </a:p>
        </p:txBody>
      </p:sp>
      <p:sp>
        <p:nvSpPr>
          <p:cNvPr id="5" name="Text 3"/>
          <p:cNvSpPr/>
          <p:nvPr/>
        </p:nvSpPr>
        <p:spPr>
          <a:xfrm>
            <a:off x="457200" y="1371600"/>
            <a:ext cx="3886200" cy="19202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 = (Δn / N_aim) × C / Δt
</a:t>
            </a:r>
            <a:pPr indent="0" marL="0">
              <a:buNone/>
            </a:pPr>
            <a:r>
              <a:rPr lang="en-US" sz="1100" dirty="0">
                <a:solidFill>
                  <a:srgbClr val="1E293B"/>
                </a:solidFill>
                <a:latin typeface="Calibri" pitchFamily="34" charset="0"/>
                <a:ea typeface="Calibri" pitchFamily="34" charset="-122"/>
                <a:cs typeface="Calibri" pitchFamily="34" charset="-120"/>
              </a:rPr>
              <a:t>• Compte les impulsions Hall sur Δt = 50 ms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Précis à haute vitesse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Inutilisable en dessous de ~3 im./cycle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Utilisé pour le log uniquement</a:t>
            </a:r>
            <a:endParaRPr lang="en-US" sz="1100" dirty="0"/>
          </a:p>
        </p:txBody>
      </p:sp>
      <p:sp>
        <p:nvSpPr>
          <p:cNvPr id="6" name="Shape 4"/>
          <p:cNvSpPr/>
          <p:nvPr/>
        </p:nvSpPr>
        <p:spPr>
          <a:xfrm>
            <a:off x="4663440" y="914400"/>
            <a:ext cx="4160520" cy="2606040"/>
          </a:xfrm>
          <a:prstGeom prst="roundRect">
            <a:avLst>
              <a:gd name="adj" fmla="val 3509"/>
            </a:avLst>
          </a:prstGeom>
          <a:solidFill>
            <a:srgbClr val="FFF4EC"/>
          </a:solidFill>
          <a:ln w="19050">
            <a:solidFill>
              <a:srgbClr val="7D6608"/>
            </a:solidFill>
            <a:prstDash val="solid"/>
          </a:ln>
          <a:effectLst>
            <a:outerShdw sx="100000" sy="100000" kx="0" ky="0" algn="bl" rotWithShape="0" blurRad="76200" dist="25400" dir="2700000">
              <a:srgbClr val="000000">
                <a:alpha val="13000"/>
              </a:srgbClr>
            </a:outerShdw>
          </a:effectLst>
        </p:spPr>
      </p:sp>
      <p:sp>
        <p:nvSpPr>
          <p:cNvPr id="7" name="Text 5"/>
          <p:cNvSpPr/>
          <p:nvPr/>
        </p:nvSpPr>
        <p:spPr>
          <a:xfrm>
            <a:off x="4800600" y="987552"/>
            <a:ext cx="3886200" cy="347472"/>
          </a:xfrm>
          <a:prstGeom prst="rect">
            <a:avLst/>
          </a:prstGeom>
          <a:noFill/>
          <a:ln/>
        </p:spPr>
        <p:txBody>
          <a:bodyPr wrap="square" rtlCol="0" anchor="ctr"/>
          <a:lstStyle/>
          <a:p>
            <a:pPr indent="0" marL="0">
              <a:buNone/>
            </a:pPr>
            <a:r>
              <a:rPr lang="en-US" sz="1300" b="1" dirty="0">
                <a:solidFill>
                  <a:srgbClr val="7D6608"/>
                </a:solidFill>
                <a:latin typeface="Calibri" pitchFamily="34" charset="0"/>
                <a:ea typeface="Calibri" pitchFamily="34" charset="-122"/>
                <a:cs typeface="Calibri" pitchFamily="34" charset="-120"/>
              </a:rPr>
              <a:t>② Méthode période (PID)</a:t>
            </a:r>
            <a:endParaRPr lang="en-US" sz="1300" dirty="0"/>
          </a:p>
        </p:txBody>
      </p:sp>
      <p:sp>
        <p:nvSpPr>
          <p:cNvPr id="8" name="Text 6"/>
          <p:cNvSpPr/>
          <p:nvPr/>
        </p:nvSpPr>
        <p:spPr>
          <a:xfrm>
            <a:off x="4800600" y="1371600"/>
            <a:ext cx="3886200" cy="19202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 = pas / T_inter-aimants
</a:t>
            </a:r>
            <a:pPr indent="0" marL="0">
              <a:buNone/>
            </a:pPr>
            <a:r>
              <a:rPr lang="en-US" sz="1100" dirty="0">
                <a:solidFill>
                  <a:srgbClr val="1E293B"/>
                </a:solidFill>
                <a:latin typeface="Calibri" pitchFamily="34" charset="0"/>
                <a:ea typeface="Calibri" pitchFamily="34" charset="-122"/>
                <a:cs typeface="Calibri" pitchFamily="34" charset="-120"/>
              </a:rPr>
              <a:t>• Mesure la durée entre 2 aimants consécutifs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Précis à basse vitesse (×155 meilleur)</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Filtre IIR asymétrique : α=0,25 montée, α=0,85 descente</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 Utilisé par le correcteur PID</a:t>
            </a:r>
            <a:endParaRPr lang="en-US" sz="1100" dirty="0"/>
          </a:p>
        </p:txBody>
      </p:sp>
      <p:sp>
        <p:nvSpPr>
          <p:cNvPr id="9" name="Shape 7"/>
          <p:cNvSpPr/>
          <p:nvPr/>
        </p:nvSpPr>
        <p:spPr>
          <a:xfrm>
            <a:off x="320040" y="3703320"/>
            <a:ext cx="8503920" cy="868680"/>
          </a:xfrm>
          <a:prstGeom prst="roundRect">
            <a:avLst>
              <a:gd name="adj" fmla="val 10526"/>
            </a:avLst>
          </a:prstGeom>
          <a:solidFill>
            <a:srgbClr val="F1F5F9"/>
          </a:solidFill>
          <a:ln w="12700">
            <a:solidFill>
              <a:srgbClr val="CBD5E1"/>
            </a:solidFill>
            <a:prstDash val="solid"/>
          </a:ln>
        </p:spPr>
      </p:sp>
      <p:sp>
        <p:nvSpPr>
          <p:cNvPr id="10" name="Text 8"/>
          <p:cNvSpPr/>
          <p:nvPr/>
        </p:nvSpPr>
        <p:spPr>
          <a:xfrm>
            <a:off x="502920" y="3749040"/>
            <a:ext cx="8229600" cy="777240"/>
          </a:xfrm>
          <a:prstGeom prst="rect">
            <a:avLst/>
          </a:prstGeom>
          <a:noFill/>
          <a:ln/>
        </p:spPr>
        <p:txBody>
          <a:bodyPr wrap="square" rtlCol="0" anchor="ctr"/>
          <a:lstStyle/>
          <a:p>
            <a:pPr indent="0" marL="0">
              <a:buNone/>
            </a:pPr>
            <a:r>
              <a:rPr lang="en-US" sz="1100" b="1" dirty="0">
                <a:solidFill>
                  <a:srgbClr val="1A2E5A"/>
                </a:solidFill>
                <a:latin typeface="Calibri" pitchFamily="34" charset="0"/>
                <a:ea typeface="Calibri" pitchFamily="34" charset="-122"/>
                <a:cs typeface="Calibri" pitchFamily="34" charset="-120"/>
              </a:rPr>
              <a:t>Incertitude Hall (méthode période) : </a:t>
            </a:r>
            <a:pPr indent="0" marL="0">
              <a:buNone/>
            </a:pPr>
            <a:r>
              <a:rPr lang="en-US" sz="1100" dirty="0">
                <a:solidFill>
                  <a:srgbClr val="1E293B"/>
                </a:solidFill>
                <a:latin typeface="Calibri" pitchFamily="34" charset="0"/>
                <a:ea typeface="Calibri" pitchFamily="34" charset="-122"/>
                <a:cs typeface="Calibri" pitchFamily="34" charset="-120"/>
              </a:rPr>
              <a:t>Δv/v ≈ Δpas/pas = 2 mm / 87 mm ≈ 2,3 %  →  σ ≈ 0,016 m/s à 0,70 m/s
</a:t>
            </a:r>
            <a:pPr indent="0" marL="0">
              <a:buNone/>
            </a:pPr>
            <a:r>
              <a:rPr lang="en-US" sz="1100" i="1" dirty="0">
                <a:solidFill>
                  <a:srgbClr val="64748B"/>
                </a:solidFill>
                <a:latin typeface="Calibri" pitchFamily="34" charset="0"/>
                <a:ea typeface="Calibri" pitchFamily="34" charset="-122"/>
                <a:cs typeface="Calibri" pitchFamily="34" charset="-120"/>
              </a:rPr>
              <a:t>Composante périodique 8 Hz (3 aimants × f_roue) simulée dans les courbes expérimentales.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Architecture du régulateur — 2-DOF et mode ACC</a:t>
            </a:r>
            <a:endParaRPr lang="en-US" sz="2400" dirty="0"/>
          </a:p>
        </p:txBody>
      </p:sp>
      <p:sp>
        <p:nvSpPr>
          <p:cNvPr id="3" name="Shape 1"/>
          <p:cNvSpPr/>
          <p:nvPr/>
        </p:nvSpPr>
        <p:spPr>
          <a:xfrm>
            <a:off x="320040" y="804672"/>
            <a:ext cx="8503920" cy="2331720"/>
          </a:xfrm>
          <a:prstGeom prst="roundRect">
            <a:avLst>
              <a:gd name="adj" fmla="val 3922"/>
            </a:avLst>
          </a:prstGeom>
          <a:solidFill>
            <a:srgbClr val="EBF2FF"/>
          </a:solidFill>
          <a:ln w="15240">
            <a:solidFill>
              <a:srgbClr val="2563EB"/>
            </a:solidFill>
            <a:prstDash val="solid"/>
          </a:ln>
        </p:spPr>
      </p:sp>
      <p:sp>
        <p:nvSpPr>
          <p:cNvPr id="4" name="Shape 2"/>
          <p:cNvSpPr/>
          <p:nvPr/>
        </p:nvSpPr>
        <p:spPr>
          <a:xfrm>
            <a:off x="457200" y="1417320"/>
            <a:ext cx="1005840" cy="548640"/>
          </a:xfrm>
          <a:prstGeom prst="roundRect">
            <a:avLst>
              <a:gd name="adj" fmla="val 11667"/>
            </a:avLst>
          </a:prstGeom>
          <a:solidFill>
            <a:srgbClr val="64748B"/>
          </a:solidFill>
          <a:ln w="12700">
            <a:solidFill>
              <a:srgbClr val="64748B"/>
            </a:solidFill>
            <a:prstDash val="solid"/>
          </a:ln>
        </p:spPr>
      </p:sp>
      <p:sp>
        <p:nvSpPr>
          <p:cNvPr id="5" name="Text 3"/>
          <p:cNvSpPr/>
          <p:nvPr/>
        </p:nvSpPr>
        <p:spPr>
          <a:xfrm>
            <a:off x="457200" y="1417320"/>
            <a:ext cx="100584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Vc</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0.70 m/s</a:t>
            </a:r>
            <a:endParaRPr lang="en-US" sz="900" dirty="0"/>
          </a:p>
        </p:txBody>
      </p:sp>
      <p:sp>
        <p:nvSpPr>
          <p:cNvPr id="6" name="Shape 4"/>
          <p:cNvSpPr/>
          <p:nvPr/>
        </p:nvSpPr>
        <p:spPr>
          <a:xfrm>
            <a:off x="1645920" y="1417320"/>
            <a:ext cx="1005840" cy="548640"/>
          </a:xfrm>
          <a:prstGeom prst="roundRect">
            <a:avLst>
              <a:gd name="adj" fmla="val 11667"/>
            </a:avLst>
          </a:prstGeom>
          <a:solidFill>
            <a:srgbClr val="1A2E5A"/>
          </a:solidFill>
          <a:ln w="12700">
            <a:solidFill>
              <a:srgbClr val="1A2E5A"/>
            </a:solidFill>
            <a:prstDash val="solid"/>
          </a:ln>
        </p:spPr>
      </p:sp>
      <p:sp>
        <p:nvSpPr>
          <p:cNvPr id="7" name="Text 5"/>
          <p:cNvSpPr/>
          <p:nvPr/>
        </p:nvSpPr>
        <p:spPr>
          <a:xfrm>
            <a:off x="1645920" y="1417320"/>
            <a:ext cx="100584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204 PWM</a:t>
            </a:r>
            <a:endParaRPr lang="en-US" sz="900" dirty="0"/>
          </a:p>
        </p:txBody>
      </p:sp>
      <p:sp>
        <p:nvSpPr>
          <p:cNvPr id="8" name="Shape 6"/>
          <p:cNvSpPr/>
          <p:nvPr/>
        </p:nvSpPr>
        <p:spPr>
          <a:xfrm>
            <a:off x="2834640" y="1234440"/>
            <a:ext cx="1188720" cy="914400"/>
          </a:xfrm>
          <a:prstGeom prst="roundRect">
            <a:avLst>
              <a:gd name="adj" fmla="val 7000"/>
            </a:avLst>
          </a:prstGeom>
          <a:solidFill>
            <a:srgbClr val="2563EB"/>
          </a:solidFill>
          <a:ln w="12700">
            <a:solidFill>
              <a:srgbClr val="2563EB"/>
            </a:solidFill>
            <a:prstDash val="solid"/>
          </a:ln>
        </p:spPr>
      </p:sp>
      <p:sp>
        <p:nvSpPr>
          <p:cNvPr id="9" name="Text 7"/>
          <p:cNvSpPr/>
          <p:nvPr/>
        </p:nvSpPr>
        <p:spPr>
          <a:xfrm>
            <a:off x="2834640" y="1234440"/>
            <a:ext cx="1188720" cy="9144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PID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Kp,Ki,Kd</a:t>
            </a:r>
            <a:endParaRPr lang="en-US" sz="900" dirty="0"/>
          </a:p>
        </p:txBody>
      </p:sp>
      <p:sp>
        <p:nvSpPr>
          <p:cNvPr id="10" name="Shape 8"/>
          <p:cNvSpPr/>
          <p:nvPr/>
        </p:nvSpPr>
        <p:spPr>
          <a:xfrm>
            <a:off x="4297680" y="1417320"/>
            <a:ext cx="640080" cy="548640"/>
          </a:xfrm>
          <a:prstGeom prst="roundRect">
            <a:avLst>
              <a:gd name="adj" fmla="val 11667"/>
            </a:avLst>
          </a:prstGeom>
          <a:solidFill>
            <a:srgbClr val="555555"/>
          </a:solidFill>
          <a:ln w="12700">
            <a:solidFill>
              <a:srgbClr val="555555"/>
            </a:solidFill>
            <a:prstDash val="solid"/>
          </a:ln>
        </p:spPr>
      </p:sp>
      <p:sp>
        <p:nvSpPr>
          <p:cNvPr id="11" name="Text 9"/>
          <p:cNvSpPr/>
          <p:nvPr/>
        </p:nvSpPr>
        <p:spPr>
          <a:xfrm>
            <a:off x="4297680" y="1417320"/>
            <a:ext cx="64008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Σ</a:t>
            </a:r>
            <a:endParaRPr lang="en-US" sz="900" dirty="0"/>
          </a:p>
        </p:txBody>
      </p:sp>
      <p:sp>
        <p:nvSpPr>
          <p:cNvPr id="12" name="Shape 10"/>
          <p:cNvSpPr/>
          <p:nvPr/>
        </p:nvSpPr>
        <p:spPr>
          <a:xfrm>
            <a:off x="5212080" y="1417320"/>
            <a:ext cx="1188720" cy="548640"/>
          </a:xfrm>
          <a:prstGeom prst="roundRect">
            <a:avLst>
              <a:gd name="adj" fmla="val 11667"/>
            </a:avLst>
          </a:prstGeom>
          <a:solidFill>
            <a:srgbClr val="1E6B3C"/>
          </a:solidFill>
          <a:ln w="12700">
            <a:solidFill>
              <a:srgbClr val="1E6B3C"/>
            </a:solidFill>
            <a:prstDash val="solid"/>
          </a:ln>
        </p:spPr>
      </p:sp>
      <p:sp>
        <p:nvSpPr>
          <p:cNvPr id="13" name="Text 11"/>
          <p:cNvSpPr/>
          <p:nvPr/>
        </p:nvSpPr>
        <p:spPr>
          <a:xfrm>
            <a:off x="5212080" y="1417320"/>
            <a:ext cx="11887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Moteur</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L298N</a:t>
            </a:r>
            <a:endParaRPr lang="en-US" sz="900" dirty="0"/>
          </a:p>
        </p:txBody>
      </p:sp>
      <p:sp>
        <p:nvSpPr>
          <p:cNvPr id="14" name="Shape 12"/>
          <p:cNvSpPr/>
          <p:nvPr/>
        </p:nvSpPr>
        <p:spPr>
          <a:xfrm>
            <a:off x="6675120" y="1417320"/>
            <a:ext cx="1005840" cy="548640"/>
          </a:xfrm>
          <a:prstGeom prst="roundRect">
            <a:avLst>
              <a:gd name="adj" fmla="val 11667"/>
            </a:avLst>
          </a:prstGeom>
          <a:solidFill>
            <a:srgbClr val="7D6608"/>
          </a:solidFill>
          <a:ln w="12700">
            <a:solidFill>
              <a:srgbClr val="7D6608"/>
            </a:solidFill>
            <a:prstDash val="solid"/>
          </a:ln>
        </p:spPr>
      </p:sp>
      <p:sp>
        <p:nvSpPr>
          <p:cNvPr id="15" name="Text 13"/>
          <p:cNvSpPr/>
          <p:nvPr/>
        </p:nvSpPr>
        <p:spPr>
          <a:xfrm>
            <a:off x="6675120" y="1417320"/>
            <a:ext cx="100584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Voiture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v, d</a:t>
            </a:r>
            <a:endParaRPr lang="en-US" sz="900" dirty="0"/>
          </a:p>
        </p:txBody>
      </p:sp>
      <p:sp>
        <p:nvSpPr>
          <p:cNvPr id="16" name="Text 14"/>
          <p:cNvSpPr/>
          <p:nvPr/>
        </p:nvSpPr>
        <p:spPr>
          <a:xfrm>
            <a:off x="1645920" y="1051560"/>
            <a:ext cx="1371600" cy="27432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Feedforward (modèle inverse)</a:t>
            </a:r>
            <a:endParaRPr lang="en-US" sz="900" dirty="0"/>
          </a:p>
        </p:txBody>
      </p:sp>
      <p:sp>
        <p:nvSpPr>
          <p:cNvPr id="17" name="Text 15"/>
          <p:cNvSpPr/>
          <p:nvPr/>
        </p:nvSpPr>
        <p:spPr>
          <a:xfrm>
            <a:off x="2834640" y="1097280"/>
            <a:ext cx="1188720" cy="228600"/>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Correcteur</a:t>
            </a:r>
            <a:endParaRPr lang="en-US" sz="900" dirty="0"/>
          </a:p>
        </p:txBody>
      </p:sp>
      <p:sp>
        <p:nvSpPr>
          <p:cNvPr id="18" name="Text 16"/>
          <p:cNvSpPr/>
          <p:nvPr/>
        </p:nvSpPr>
        <p:spPr>
          <a:xfrm>
            <a:off x="3108960" y="2514600"/>
            <a:ext cx="3657600" cy="228600"/>
          </a:xfrm>
          <a:prstGeom prst="rect">
            <a:avLst/>
          </a:prstGeom>
          <a:noFill/>
          <a:ln/>
        </p:spPr>
        <p:txBody>
          <a:bodyPr wrap="square" rtlCol="0" anchor="ctr"/>
          <a:lstStyle/>
          <a:p>
            <a:pPr indent="0" marL="0">
              <a:buNone/>
            </a:pPr>
            <a:r>
              <a:rPr lang="en-US" sz="900" i="1" dirty="0">
                <a:solidFill>
                  <a:srgbClr val="C0392B"/>
                </a:solidFill>
                <a:latin typeface="Calibri" pitchFamily="34" charset="0"/>
                <a:ea typeface="Calibri" pitchFamily="34" charset="-122"/>
                <a:cs typeface="Calibri" pitchFamily="34" charset="-120"/>
              </a:rPr>
              <a:t>Retour mesure (Hall + HC-SR04)</a:t>
            </a:r>
            <a:endParaRPr lang="en-US" sz="900" dirty="0"/>
          </a:p>
        </p:txBody>
      </p:sp>
      <p:sp>
        <p:nvSpPr>
          <p:cNvPr id="19" name="Shape 17"/>
          <p:cNvSpPr/>
          <p:nvPr/>
        </p:nvSpPr>
        <p:spPr>
          <a:xfrm>
            <a:off x="320040" y="3291840"/>
            <a:ext cx="8503920" cy="2148840"/>
          </a:xfrm>
          <a:prstGeom prst="roundRect">
            <a:avLst>
              <a:gd name="adj" fmla="val 4255"/>
            </a:avLst>
          </a:prstGeom>
          <a:solidFill>
            <a:srgbClr val="FFF4EC"/>
          </a:solidFill>
          <a:ln w="19050">
            <a:solidFill>
              <a:srgbClr val="7D6608"/>
            </a:solidFill>
            <a:prstDash val="solid"/>
          </a:ln>
        </p:spPr>
      </p:sp>
      <p:sp>
        <p:nvSpPr>
          <p:cNvPr id="20" name="Text 18"/>
          <p:cNvSpPr/>
          <p:nvPr/>
        </p:nvSpPr>
        <p:spPr>
          <a:xfrm>
            <a:off x="457200" y="3337560"/>
            <a:ext cx="8229600" cy="347472"/>
          </a:xfrm>
          <a:prstGeom prst="rect">
            <a:avLst/>
          </a:prstGeom>
          <a:noFill/>
          <a:ln/>
        </p:spPr>
        <p:txBody>
          <a:bodyPr wrap="square" rtlCol="0" anchor="ctr"/>
          <a:lstStyle/>
          <a:p>
            <a:pPr indent="0" marL="0">
              <a:buNone/>
            </a:pPr>
            <a:r>
              <a:rPr lang="en-US" sz="1300" b="1" dirty="0">
                <a:solidFill>
                  <a:srgbClr val="7D6608"/>
                </a:solidFill>
                <a:latin typeface="Calibri" pitchFamily="34" charset="0"/>
                <a:ea typeface="Calibri" pitchFamily="34" charset="-122"/>
                <a:cs typeface="Calibri" pitchFamily="34" charset="-120"/>
              </a:rPr>
              <a:t>Mode distance — Architecture ACC (v19)</a:t>
            </a:r>
            <a:endParaRPr lang="en-US" sz="1300" dirty="0"/>
          </a:p>
        </p:txBody>
      </p:sp>
      <p:sp>
        <p:nvSpPr>
          <p:cNvPr id="21" name="Text 19"/>
          <p:cNvSpPr/>
          <p:nvPr/>
        </p:nvSpPr>
        <p:spPr>
          <a:xfrm>
            <a:off x="457200" y="3749040"/>
            <a:ext cx="8229600" cy="457200"/>
          </a:xfrm>
          <a:prstGeom prst="rect">
            <a:avLst/>
          </a:prstGeom>
          <a:noFill/>
          <a:ln/>
        </p:spPr>
        <p:txBody>
          <a:bodyPr wrap="square" rtlCol="0" anchor="ctr"/>
          <a:lstStyle/>
          <a:p>
            <a:pPr algn="ctr" indent="0" marL="0">
              <a:buNone/>
            </a:pPr>
            <a:r>
              <a:rPr lang="en-US" sz="1600" b="1" dirty="0">
                <a:solidFill>
                  <a:srgbClr val="1A2E5A"/>
                </a:solidFill>
                <a:latin typeface="Cambria" pitchFamily="34" charset="0"/>
                <a:ea typeface="Cambria" pitchFamily="34" charset="-122"/>
                <a:cs typeface="Cambria" pitchFamily="34" charset="-120"/>
              </a:rPr>
              <a:t>cmd  =  cmd_vitesse  −  K_brake × max(0,  Dc  −  d)</a:t>
            </a:r>
            <a:endParaRPr lang="en-US" sz="1600" dirty="0"/>
          </a:p>
        </p:txBody>
      </p:sp>
      <p:sp>
        <p:nvSpPr>
          <p:cNvPr id="22" name="Text 20"/>
          <p:cNvSpPr/>
          <p:nvPr/>
        </p:nvSpPr>
        <p:spPr>
          <a:xfrm>
            <a:off x="457200" y="4279392"/>
            <a:ext cx="8229600" cy="1051560"/>
          </a:xfrm>
          <a:prstGeom prst="rect">
            <a:avLst/>
          </a:prstGeom>
          <a:noFill/>
          <a:ln/>
        </p:spPr>
        <p:txBody>
          <a:bodyPr wrap="square" rtlCol="0" anchor="ctr"/>
          <a:lstStyle/>
          <a:p>
            <a:pPr indent="0" marL="0">
              <a:buNone/>
            </a:pPr>
            <a:r>
              <a:rPr lang="en-US" sz="1150" b="1" dirty="0">
                <a:solidFill>
                  <a:srgbClr val="1E8449"/>
                </a:solidFill>
                <a:latin typeface="Calibri" pitchFamily="34" charset="0"/>
                <a:ea typeface="Calibri" pitchFamily="34" charset="-122"/>
                <a:cs typeface="Calibri" pitchFamily="34" charset="-120"/>
              </a:rPr>
              <a:t>• d ≥ Dc : </a:t>
            </a:r>
            <a:pPr indent="0" marL="0">
              <a:buNone/>
            </a:pPr>
            <a:r>
              <a:rPr lang="en-US" sz="1150" dirty="0">
                <a:solidFill>
                  <a:srgbClr val="1E293B"/>
                </a:solidFill>
                <a:latin typeface="Calibri" pitchFamily="34" charset="0"/>
                <a:ea typeface="Calibri" pitchFamily="34" charset="-122"/>
                <a:cs typeface="Calibri" pitchFamily="34" charset="-120"/>
              </a:rPr>
              <a:t>freinage = 0  →  la voiture MAINTIENT sa vitesse (pas d'accélération)
</a:t>
            </a:r>
            <a:pPr indent="0" marL="0">
              <a:buNone/>
            </a:pPr>
            <a:r>
              <a:rPr lang="en-US" sz="1150" b="1" dirty="0">
                <a:solidFill>
                  <a:srgbClr val="C0392B"/>
                </a:solidFill>
                <a:latin typeface="Calibri" pitchFamily="34" charset="0"/>
                <a:ea typeface="Calibri" pitchFamily="34" charset="-122"/>
                <a:cs typeface="Calibri" pitchFamily="34" charset="-120"/>
              </a:rPr>
              <a:t>• d &lt; Dc : </a:t>
            </a:r>
            <a:pPr indent="0" marL="0">
              <a:buNone/>
            </a:pPr>
            <a:r>
              <a:rPr lang="en-US" sz="1150" dirty="0">
                <a:solidFill>
                  <a:srgbClr val="1E293B"/>
                </a:solidFill>
                <a:latin typeface="Calibri" pitchFamily="34" charset="0"/>
                <a:ea typeface="Calibri" pitchFamily="34" charset="-122"/>
                <a:cs typeface="Calibri" pitchFamily="34" charset="-120"/>
              </a:rPr>
              <a:t>freinage = 600 × (Dc − d) PWM  →  ralentissement proportionnel à la proximité
</a:t>
            </a:r>
            <a:pPr indent="0" marL="0">
              <a:buNone/>
            </a:pPr>
            <a:r>
              <a:rPr lang="en-US" sz="1150" b="1" dirty="0">
                <a:solidFill>
                  <a:srgbClr val="2563EB"/>
                </a:solidFill>
                <a:latin typeface="Calibri" pitchFamily="34" charset="0"/>
                <a:ea typeface="Calibri" pitchFamily="34" charset="-122"/>
                <a:cs typeface="Calibri" pitchFamily="34" charset="-120"/>
              </a:rPr>
              <a:t>• Anti-windup : </a:t>
            </a:r>
            <a:pPr indent="0" marL="0">
              <a:buNone/>
            </a:pPr>
            <a:r>
              <a:rPr lang="en-US" sz="1150" dirty="0">
                <a:solidFill>
                  <a:srgbClr val="1E293B"/>
                </a:solidFill>
                <a:latin typeface="Calibri" pitchFamily="34" charset="0"/>
                <a:ea typeface="Calibri" pitchFamily="34" charset="-122"/>
                <a:cs typeface="Calibri" pitchFamily="34" charset="-120"/>
              </a:rPr>
              <a:t>intégrale gelée pendant le freinage pour éviter l'accélération au retour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Correcteur P — Kp = 60</a:t>
            </a:r>
            <a:endParaRPr lang="en-US" sz="2400" dirty="0"/>
          </a:p>
        </p:txBody>
      </p:sp>
      <p:sp>
        <p:nvSpPr>
          <p:cNvPr id="3" name="Shape 1"/>
          <p:cNvSpPr/>
          <p:nvPr/>
        </p:nvSpPr>
        <p:spPr>
          <a:xfrm>
            <a:off x="7772400" y="137160"/>
            <a:ext cx="1005840" cy="283464"/>
          </a:xfrm>
          <a:prstGeom prst="roundRect">
            <a:avLst>
              <a:gd name="adj" fmla="val 19355"/>
            </a:avLst>
          </a:prstGeom>
          <a:solidFill>
            <a:srgbClr val="C0392B"/>
          </a:solidFill>
          <a:ln w="12700">
            <a:solidFill>
              <a:srgbClr val="C0392B"/>
            </a:solidFill>
            <a:prstDash val="solid"/>
          </a:ln>
        </p:spPr>
      </p:sp>
      <p:sp>
        <p:nvSpPr>
          <p:cNvPr id="4" name="Text 2"/>
          <p:cNvSpPr/>
          <p:nvPr/>
        </p:nvSpPr>
        <p:spPr>
          <a:xfrm>
            <a:off x="7772400" y="137160"/>
            <a:ext cx="100584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 = 60</a:t>
            </a:r>
            <a:endParaRPr lang="en-US" sz="1100" dirty="0"/>
          </a:p>
        </p:txBody>
      </p:sp>
      <p:pic>
        <p:nvPicPr>
          <p:cNvPr id="5" name="Image 0" descr="/mnt/user-data/outputs/courbe_P.png">    </p:cNvPr>
          <p:cNvPicPr>
            <a:picLocks noChangeAspect="1"/>
          </p:cNvPicPr>
          <p:nvPr/>
        </p:nvPicPr>
        <p:blipFill>
          <a:blip r:embed="rId1"/>
          <a:srcRect l="0" r="0" t="0" b="0"/>
          <a:stretch/>
        </p:blipFill>
        <p:spPr>
          <a:xfrm>
            <a:off x="182880" y="685800"/>
            <a:ext cx="6217920" cy="4480560"/>
          </a:xfrm>
          <a:prstGeom prst="rect">
            <a:avLst/>
          </a:prstGeom>
        </p:spPr>
      </p:pic>
      <p:sp>
        <p:nvSpPr>
          <p:cNvPr id="6" name="Shape 3"/>
          <p:cNvSpPr/>
          <p:nvPr/>
        </p:nvSpPr>
        <p:spPr>
          <a:xfrm>
            <a:off x="6675120" y="731520"/>
            <a:ext cx="2240280" cy="914400"/>
          </a:xfrm>
          <a:prstGeom prst="roundRect">
            <a:avLst>
              <a:gd name="adj" fmla="val 8000"/>
            </a:avLst>
          </a:prstGeom>
          <a:solidFill>
            <a:srgbClr val="FFF0EE"/>
          </a:solidFill>
          <a:ln w="15240">
            <a:solidFill>
              <a:srgbClr val="C0392B"/>
            </a:solidFill>
            <a:prstDash val="solid"/>
          </a:ln>
          <a:effectLst>
            <a:outerShdw sx="100000" sy="100000" kx="0" ky="0" algn="bl" rotWithShape="0" blurRad="76200" dist="25400" dir="2700000">
              <a:srgbClr val="000000">
                <a:alpha val="13000"/>
              </a:srgbClr>
            </a:outerShdw>
          </a:effectLst>
        </p:spPr>
      </p:sp>
      <p:sp>
        <p:nvSpPr>
          <p:cNvPr id="7" name="Text 4"/>
          <p:cNvSpPr/>
          <p:nvPr/>
        </p:nvSpPr>
        <p:spPr>
          <a:xfrm>
            <a:off x="6748272" y="76809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Erreur statique −0,23 m/s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(voiture à 0,47 m/s au lieu de 0,70)</a:t>
            </a:r>
            <a:endParaRPr lang="en-US" sz="1000" dirty="0"/>
          </a:p>
        </p:txBody>
      </p:sp>
      <p:sp>
        <p:nvSpPr>
          <p:cNvPr id="8" name="Shape 5"/>
          <p:cNvSpPr/>
          <p:nvPr/>
        </p:nvSpPr>
        <p:spPr>
          <a:xfrm>
            <a:off x="6675120" y="1783080"/>
            <a:ext cx="2240280" cy="914400"/>
          </a:xfrm>
          <a:prstGeom prst="roundRect">
            <a:avLst>
              <a:gd name="adj" fmla="val 8000"/>
            </a:avLst>
          </a:prstGeom>
          <a:solidFill>
            <a:srgbClr val="FFF0EE"/>
          </a:solidFill>
          <a:ln w="15240">
            <a:solidFill>
              <a:srgbClr val="64748B"/>
            </a:solidFill>
            <a:prstDash val="solid"/>
          </a:ln>
          <a:effectLst>
            <a:outerShdw sx="100000" sy="100000" kx="0" ky="0" algn="bl" rotWithShape="0" blurRad="76200" dist="25400" dir="2700000">
              <a:srgbClr val="000000">
                <a:alpha val="13000"/>
              </a:srgbClr>
            </a:outerShdw>
          </a:effectLst>
        </p:spPr>
      </p:sp>
      <p:sp>
        <p:nvSpPr>
          <p:cNvPr id="9" name="Text 6"/>
          <p:cNvSpPr/>
          <p:nvPr/>
        </p:nvSpPr>
        <p:spPr>
          <a:xfrm>
            <a:off x="6748272" y="181965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Structurelle : le P seul ne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peut pas compenser K_réel ≠ K_nom</a:t>
            </a:r>
            <a:endParaRPr lang="en-US" sz="1000" dirty="0"/>
          </a:p>
        </p:txBody>
      </p:sp>
      <p:sp>
        <p:nvSpPr>
          <p:cNvPr id="10" name="Shape 7"/>
          <p:cNvSpPr/>
          <p:nvPr/>
        </p:nvSpPr>
        <p:spPr>
          <a:xfrm>
            <a:off x="6675120" y="2834640"/>
            <a:ext cx="2240280" cy="914400"/>
          </a:xfrm>
          <a:prstGeom prst="roundRect">
            <a:avLst>
              <a:gd name="adj" fmla="val 8000"/>
            </a:avLst>
          </a:prstGeom>
          <a:solidFill>
            <a:srgbClr val="FFF0EE"/>
          </a:solidFill>
          <a:ln w="15240">
            <a:solidFill>
              <a:srgbClr val="7D6608"/>
            </a:solidFill>
            <a:prstDash val="solid"/>
          </a:ln>
          <a:effectLst>
            <a:outerShdw sx="100000" sy="100000" kx="0" ky="0" algn="bl" rotWithShape="0" blurRad="76200" dist="25400" dir="2700000">
              <a:srgbClr val="000000">
                <a:alpha val="13000"/>
              </a:srgbClr>
            </a:outerShdw>
          </a:effectLst>
        </p:spPr>
      </p:sp>
      <p:sp>
        <p:nvSpPr>
          <p:cNvPr id="11" name="Text 8"/>
          <p:cNvSpPr/>
          <p:nvPr/>
        </p:nvSpPr>
        <p:spPr>
          <a:xfrm>
            <a:off x="6748272" y="287121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Commande saccadée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en mode distance (rd = 0)</a:t>
            </a:r>
            <a:endParaRPr lang="en-US" sz="1000" dirty="0"/>
          </a:p>
        </p:txBody>
      </p:sp>
      <p:sp>
        <p:nvSpPr>
          <p:cNvPr id="12" name="Shape 9"/>
          <p:cNvSpPr/>
          <p:nvPr/>
        </p:nvSpPr>
        <p:spPr>
          <a:xfrm>
            <a:off x="6675120" y="3886200"/>
            <a:ext cx="2240280" cy="914400"/>
          </a:xfrm>
          <a:prstGeom prst="roundRect">
            <a:avLst>
              <a:gd name="adj" fmla="val 8000"/>
            </a:avLst>
          </a:prstGeom>
          <a:solidFill>
            <a:srgbClr val="FFF0EE"/>
          </a:solidFill>
          <a:ln w="15240">
            <a:solidFill>
              <a:srgbClr val="C0392B"/>
            </a:solidFill>
            <a:prstDash val="solid"/>
          </a:ln>
          <a:effectLst>
            <a:outerShdw sx="100000" sy="100000" kx="0" ky="0" algn="bl" rotWithShape="0" blurRad="76200" dist="25400" dir="2700000">
              <a:srgbClr val="000000">
                <a:alpha val="13000"/>
              </a:srgbClr>
            </a:outerShdw>
          </a:effectLst>
        </p:spPr>
      </p:sp>
      <p:sp>
        <p:nvSpPr>
          <p:cNvPr id="13" name="Text 10"/>
          <p:cNvSpPr/>
          <p:nvPr/>
        </p:nvSpPr>
        <p:spPr>
          <a:xfrm>
            <a:off x="6748272" y="392277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Aucun dépassement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tr5% : N/A (ne converge pas)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Correcteur PI — Kp = 15, Ki = 60</a:t>
            </a:r>
            <a:endParaRPr lang="en-US" sz="2400" dirty="0"/>
          </a:p>
        </p:txBody>
      </p:sp>
      <p:sp>
        <p:nvSpPr>
          <p:cNvPr id="3" name="Shape 1"/>
          <p:cNvSpPr/>
          <p:nvPr/>
        </p:nvSpPr>
        <p:spPr>
          <a:xfrm>
            <a:off x="7178040" y="137160"/>
            <a:ext cx="1645920" cy="283464"/>
          </a:xfrm>
          <a:prstGeom prst="roundRect">
            <a:avLst>
              <a:gd name="adj" fmla="val 19355"/>
            </a:avLst>
          </a:prstGeom>
          <a:solidFill>
            <a:srgbClr val="1A5276"/>
          </a:solidFill>
          <a:ln w="12700">
            <a:solidFill>
              <a:srgbClr val="1A5276"/>
            </a:solidFill>
            <a:prstDash val="solid"/>
          </a:ln>
        </p:spPr>
      </p:sp>
      <p:sp>
        <p:nvSpPr>
          <p:cNvPr id="4" name="Text 2"/>
          <p:cNvSpPr/>
          <p:nvPr/>
        </p:nvSpPr>
        <p:spPr>
          <a:xfrm>
            <a:off x="7178040" y="137160"/>
            <a:ext cx="164592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Kp=15  Ki=60</a:t>
            </a:r>
            <a:endParaRPr lang="en-US" sz="1100" dirty="0"/>
          </a:p>
        </p:txBody>
      </p:sp>
      <p:pic>
        <p:nvPicPr>
          <p:cNvPr id="5" name="Image 0" descr="/mnt/user-data/outputs/courbe_PI.png">    </p:cNvPr>
          <p:cNvPicPr>
            <a:picLocks noChangeAspect="1"/>
          </p:cNvPicPr>
          <p:nvPr/>
        </p:nvPicPr>
        <p:blipFill>
          <a:blip r:embed="rId1"/>
          <a:srcRect l="0" r="0" t="0" b="0"/>
          <a:stretch/>
        </p:blipFill>
        <p:spPr>
          <a:xfrm>
            <a:off x="182880" y="685800"/>
            <a:ext cx="6217920" cy="4480560"/>
          </a:xfrm>
          <a:prstGeom prst="rect">
            <a:avLst/>
          </a:prstGeom>
        </p:spPr>
      </p:pic>
      <p:sp>
        <p:nvSpPr>
          <p:cNvPr id="6" name="Shape 3"/>
          <p:cNvSpPr/>
          <p:nvPr/>
        </p:nvSpPr>
        <p:spPr>
          <a:xfrm>
            <a:off x="6675120" y="731520"/>
            <a:ext cx="2240280" cy="914400"/>
          </a:xfrm>
          <a:prstGeom prst="roundRect">
            <a:avLst>
              <a:gd name="adj" fmla="val 8000"/>
            </a:avLst>
          </a:prstGeom>
          <a:solidFill>
            <a:srgbClr val="EEF4FF"/>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7" name="Text 4"/>
          <p:cNvSpPr/>
          <p:nvPr/>
        </p:nvSpPr>
        <p:spPr>
          <a:xfrm>
            <a:off x="6748272" y="76809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Erreur statique → 0</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l'intégrale compense K_réel ≠ K_nom</a:t>
            </a:r>
            <a:endParaRPr lang="en-US" sz="1000" dirty="0"/>
          </a:p>
        </p:txBody>
      </p:sp>
      <p:sp>
        <p:nvSpPr>
          <p:cNvPr id="8" name="Shape 5"/>
          <p:cNvSpPr/>
          <p:nvPr/>
        </p:nvSpPr>
        <p:spPr>
          <a:xfrm>
            <a:off x="6675120" y="1783080"/>
            <a:ext cx="2240280" cy="914400"/>
          </a:xfrm>
          <a:prstGeom prst="roundRect">
            <a:avLst>
              <a:gd name="adj" fmla="val 8000"/>
            </a:avLst>
          </a:prstGeom>
          <a:solidFill>
            <a:srgbClr val="EEF4FF"/>
          </a:solidFill>
          <a:ln w="15240">
            <a:solidFill>
              <a:srgbClr val="7D6608"/>
            </a:solidFill>
            <a:prstDash val="solid"/>
          </a:ln>
          <a:effectLst>
            <a:outerShdw sx="100000" sy="100000" kx="0" ky="0" algn="bl" rotWithShape="0" blurRad="76200" dist="25400" dir="2700000">
              <a:srgbClr val="000000">
                <a:alpha val="13000"/>
              </a:srgbClr>
            </a:outerShdw>
          </a:effectLst>
        </p:spPr>
      </p:sp>
      <p:sp>
        <p:nvSpPr>
          <p:cNvPr id="9" name="Text 6"/>
          <p:cNvSpPr/>
          <p:nvPr/>
        </p:nvSpPr>
        <p:spPr>
          <a:xfrm>
            <a:off x="6748272" y="181965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tr5% ≈ 7,5 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système lent et très amorti</a:t>
            </a:r>
            <a:endParaRPr lang="en-US" sz="1000" dirty="0"/>
          </a:p>
        </p:txBody>
      </p:sp>
      <p:sp>
        <p:nvSpPr>
          <p:cNvPr id="10" name="Shape 7"/>
          <p:cNvSpPr/>
          <p:nvPr/>
        </p:nvSpPr>
        <p:spPr>
          <a:xfrm>
            <a:off x="6675120" y="2834640"/>
            <a:ext cx="2240280" cy="914400"/>
          </a:xfrm>
          <a:prstGeom prst="roundRect">
            <a:avLst>
              <a:gd name="adj" fmla="val 8000"/>
            </a:avLst>
          </a:prstGeom>
          <a:solidFill>
            <a:srgbClr val="EEF4FF"/>
          </a:solidFill>
          <a:ln w="15240">
            <a:solidFill>
              <a:srgbClr val="1A5276"/>
            </a:solidFill>
            <a:prstDash val="solid"/>
          </a:ln>
          <a:effectLst>
            <a:outerShdw sx="100000" sy="100000" kx="0" ky="0" algn="bl" rotWithShape="0" blurRad="76200" dist="25400" dir="2700000">
              <a:srgbClr val="000000">
                <a:alpha val="13000"/>
              </a:srgbClr>
            </a:outerShdw>
          </a:effectLst>
        </p:spPr>
      </p:sp>
      <p:sp>
        <p:nvSpPr>
          <p:cNvPr id="11" name="Text 8"/>
          <p:cNvSpPr/>
          <p:nvPr/>
        </p:nvSpPr>
        <p:spPr>
          <a:xfrm>
            <a:off x="6748272" y="287121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Kp faible exprès :</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montée progressive visible</a:t>
            </a:r>
            <a:endParaRPr lang="en-US" sz="1000" dirty="0"/>
          </a:p>
        </p:txBody>
      </p:sp>
      <p:sp>
        <p:nvSpPr>
          <p:cNvPr id="12" name="Shape 9"/>
          <p:cNvSpPr/>
          <p:nvPr/>
        </p:nvSpPr>
        <p:spPr>
          <a:xfrm>
            <a:off x="6675120" y="3886200"/>
            <a:ext cx="2240280" cy="914400"/>
          </a:xfrm>
          <a:prstGeom prst="roundRect">
            <a:avLst>
              <a:gd name="adj" fmla="val 8000"/>
            </a:avLst>
          </a:prstGeom>
          <a:solidFill>
            <a:srgbClr val="EEF4FF"/>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13" name="Text 10"/>
          <p:cNvSpPr/>
          <p:nvPr/>
        </p:nvSpPr>
        <p:spPr>
          <a:xfrm>
            <a:off x="6748272" y="392277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Aucun dépassement</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stabilité garantie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Correcteur PD — Kp = 350, Kd = 10</a:t>
            </a:r>
            <a:endParaRPr lang="en-US" sz="2400" dirty="0"/>
          </a:p>
        </p:txBody>
      </p:sp>
      <p:sp>
        <p:nvSpPr>
          <p:cNvPr id="3" name="Shape 1"/>
          <p:cNvSpPr/>
          <p:nvPr/>
        </p:nvSpPr>
        <p:spPr>
          <a:xfrm>
            <a:off x="6949440" y="137160"/>
            <a:ext cx="1874520" cy="283464"/>
          </a:xfrm>
          <a:prstGeom prst="roundRect">
            <a:avLst>
              <a:gd name="adj" fmla="val 19355"/>
            </a:avLst>
          </a:prstGeom>
          <a:solidFill>
            <a:srgbClr val="1E8449"/>
          </a:solidFill>
          <a:ln w="12700">
            <a:solidFill>
              <a:srgbClr val="1E8449"/>
            </a:solidFill>
            <a:prstDash val="solid"/>
          </a:ln>
        </p:spPr>
      </p:sp>
      <p:sp>
        <p:nvSpPr>
          <p:cNvPr id="4" name="Text 2"/>
          <p:cNvSpPr/>
          <p:nvPr/>
        </p:nvSpPr>
        <p:spPr>
          <a:xfrm>
            <a:off x="6949440" y="137160"/>
            <a:ext cx="187452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Kp=350  Kd=10</a:t>
            </a:r>
            <a:endParaRPr lang="en-US" sz="1100" dirty="0"/>
          </a:p>
        </p:txBody>
      </p:sp>
      <p:pic>
        <p:nvPicPr>
          <p:cNvPr id="5" name="Image 0" descr="/mnt/user-data/outputs/courbe_PD.png">    </p:cNvPr>
          <p:cNvPicPr>
            <a:picLocks noChangeAspect="1"/>
          </p:cNvPicPr>
          <p:nvPr/>
        </p:nvPicPr>
        <p:blipFill>
          <a:blip r:embed="rId1"/>
          <a:srcRect l="0" r="0" t="0" b="0"/>
          <a:stretch/>
        </p:blipFill>
        <p:spPr>
          <a:xfrm>
            <a:off x="182880" y="685800"/>
            <a:ext cx="6217920" cy="4480560"/>
          </a:xfrm>
          <a:prstGeom prst="rect">
            <a:avLst/>
          </a:prstGeom>
        </p:spPr>
      </p:pic>
      <p:sp>
        <p:nvSpPr>
          <p:cNvPr id="6" name="Shape 3"/>
          <p:cNvSpPr/>
          <p:nvPr/>
        </p:nvSpPr>
        <p:spPr>
          <a:xfrm>
            <a:off x="6675120" y="731520"/>
            <a:ext cx="2240280" cy="914400"/>
          </a:xfrm>
          <a:prstGeom prst="roundRect">
            <a:avLst>
              <a:gd name="adj" fmla="val 8000"/>
            </a:avLst>
          </a:prstGeom>
          <a:solidFill>
            <a:srgbClr val="EDFAEE"/>
          </a:solidFill>
          <a:ln w="15240">
            <a:solidFill>
              <a:srgbClr val="7D6608"/>
            </a:solidFill>
            <a:prstDash val="solid"/>
          </a:ln>
          <a:effectLst>
            <a:outerShdw sx="100000" sy="100000" kx="0" ky="0" algn="bl" rotWithShape="0" blurRad="76200" dist="25400" dir="2700000">
              <a:srgbClr val="000000">
                <a:alpha val="13000"/>
              </a:srgbClr>
            </a:outerShdw>
          </a:effectLst>
        </p:spPr>
      </p:sp>
      <p:sp>
        <p:nvSpPr>
          <p:cNvPr id="7" name="Text 4"/>
          <p:cNvSpPr/>
          <p:nvPr/>
        </p:nvSpPr>
        <p:spPr>
          <a:xfrm>
            <a:off x="6748272" y="76809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Erreur statique −0,13 m/s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réduite vs P (Kp plus fort)</a:t>
            </a:r>
            <a:endParaRPr lang="en-US" sz="1000" dirty="0"/>
          </a:p>
        </p:txBody>
      </p:sp>
      <p:sp>
        <p:nvSpPr>
          <p:cNvPr id="8" name="Shape 5"/>
          <p:cNvSpPr/>
          <p:nvPr/>
        </p:nvSpPr>
        <p:spPr>
          <a:xfrm>
            <a:off x="6675120" y="1783080"/>
            <a:ext cx="2240280" cy="914400"/>
          </a:xfrm>
          <a:prstGeom prst="roundRect">
            <a:avLst>
              <a:gd name="adj" fmla="val 8000"/>
            </a:avLst>
          </a:prstGeom>
          <a:solidFill>
            <a:srgbClr val="EDFAEE"/>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9" name="Text 6"/>
          <p:cNvSpPr/>
          <p:nvPr/>
        </p:nvSpPr>
        <p:spPr>
          <a:xfrm>
            <a:off x="6748272" y="181965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tr5% ≈ 1,5 s — très rapide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réponse immédiate au kick</a:t>
            </a:r>
            <a:endParaRPr lang="en-US" sz="1000" dirty="0"/>
          </a:p>
        </p:txBody>
      </p:sp>
      <p:sp>
        <p:nvSpPr>
          <p:cNvPr id="10" name="Shape 7"/>
          <p:cNvSpPr/>
          <p:nvPr/>
        </p:nvSpPr>
        <p:spPr>
          <a:xfrm>
            <a:off x="6675120" y="2834640"/>
            <a:ext cx="2240280" cy="914400"/>
          </a:xfrm>
          <a:prstGeom prst="roundRect">
            <a:avLst>
              <a:gd name="adj" fmla="val 8000"/>
            </a:avLst>
          </a:prstGeom>
          <a:solidFill>
            <a:srgbClr val="EDFAEE"/>
          </a:solidFill>
          <a:ln w="15240">
            <a:solidFill>
              <a:srgbClr val="7D6608"/>
            </a:solidFill>
            <a:prstDash val="solid"/>
          </a:ln>
          <a:effectLst>
            <a:outerShdw sx="100000" sy="100000" kx="0" ky="0" algn="bl" rotWithShape="0" blurRad="76200" dist="25400" dir="2700000">
              <a:srgbClr val="000000">
                <a:alpha val="13000"/>
              </a:srgbClr>
            </a:outerShdw>
          </a:effectLst>
        </p:spPr>
      </p:sp>
      <p:sp>
        <p:nvSpPr>
          <p:cNvPr id="11" name="Text 8"/>
          <p:cNvSpPr/>
          <p:nvPr/>
        </p:nvSpPr>
        <p:spPr>
          <a:xfrm>
            <a:off x="6748272" y="287121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Dépassement ~14%</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aurait besoin d'un terme I</a:t>
            </a:r>
            <a:endParaRPr lang="en-US" sz="1000" dirty="0"/>
          </a:p>
        </p:txBody>
      </p:sp>
      <p:sp>
        <p:nvSpPr>
          <p:cNvPr id="12" name="Shape 9"/>
          <p:cNvSpPr/>
          <p:nvPr/>
        </p:nvSpPr>
        <p:spPr>
          <a:xfrm>
            <a:off x="6675120" y="3886200"/>
            <a:ext cx="2240280" cy="914400"/>
          </a:xfrm>
          <a:prstGeom prst="roundRect">
            <a:avLst>
              <a:gd name="adj" fmla="val 8000"/>
            </a:avLst>
          </a:prstGeom>
          <a:solidFill>
            <a:srgbClr val="EDFAEE"/>
          </a:solidFill>
          <a:ln w="15240">
            <a:solidFill>
              <a:srgbClr val="C0392B"/>
            </a:solidFill>
            <a:prstDash val="solid"/>
          </a:ln>
          <a:effectLst>
            <a:outerShdw sx="100000" sy="100000" kx="0" ky="0" algn="bl" rotWithShape="0" blurRad="76200" dist="25400" dir="2700000">
              <a:srgbClr val="000000">
                <a:alpha val="13000"/>
              </a:srgbClr>
            </a:outerShdw>
          </a:effectLst>
        </p:spPr>
      </p:sp>
      <p:sp>
        <p:nvSpPr>
          <p:cNvPr id="13" name="Text 10"/>
          <p:cNvSpPr/>
          <p:nvPr/>
        </p:nvSpPr>
        <p:spPr>
          <a:xfrm>
            <a:off x="6748272" y="392277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Sans intégrale : erreur</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statique irréductible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Correcteur PID — Kp = 80, Ki = 40, Kd = 8</a:t>
            </a:r>
            <a:endParaRPr lang="en-US" sz="2400" dirty="0"/>
          </a:p>
        </p:txBody>
      </p:sp>
      <p:sp>
        <p:nvSpPr>
          <p:cNvPr id="3" name="Shape 1"/>
          <p:cNvSpPr/>
          <p:nvPr/>
        </p:nvSpPr>
        <p:spPr>
          <a:xfrm>
            <a:off x="6492240" y="137160"/>
            <a:ext cx="2286000" cy="283464"/>
          </a:xfrm>
          <a:prstGeom prst="roundRect">
            <a:avLst>
              <a:gd name="adj" fmla="val 19355"/>
            </a:avLst>
          </a:prstGeom>
          <a:solidFill>
            <a:srgbClr val="7D6608"/>
          </a:solidFill>
          <a:ln w="12700">
            <a:solidFill>
              <a:srgbClr val="7D6608"/>
            </a:solidFill>
            <a:prstDash val="solid"/>
          </a:ln>
        </p:spPr>
      </p:sp>
      <p:sp>
        <p:nvSpPr>
          <p:cNvPr id="4" name="Text 2"/>
          <p:cNvSpPr/>
          <p:nvPr/>
        </p:nvSpPr>
        <p:spPr>
          <a:xfrm>
            <a:off x="6492240" y="137160"/>
            <a:ext cx="2286000" cy="2834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Kp=80  Ki=40  Kd=8</a:t>
            </a:r>
            <a:endParaRPr lang="en-US" sz="1100" dirty="0"/>
          </a:p>
        </p:txBody>
      </p:sp>
      <p:pic>
        <p:nvPicPr>
          <p:cNvPr id="5" name="Image 0" descr="/mnt/user-data/outputs/courbe_PID.png">    </p:cNvPr>
          <p:cNvPicPr>
            <a:picLocks noChangeAspect="1"/>
          </p:cNvPicPr>
          <p:nvPr/>
        </p:nvPicPr>
        <p:blipFill>
          <a:blip r:embed="rId1"/>
          <a:srcRect l="0" r="0" t="0" b="0"/>
          <a:stretch/>
        </p:blipFill>
        <p:spPr>
          <a:xfrm>
            <a:off x="182880" y="685800"/>
            <a:ext cx="6217920" cy="4480560"/>
          </a:xfrm>
          <a:prstGeom prst="rect">
            <a:avLst/>
          </a:prstGeom>
        </p:spPr>
      </p:pic>
      <p:sp>
        <p:nvSpPr>
          <p:cNvPr id="6" name="Shape 3"/>
          <p:cNvSpPr/>
          <p:nvPr/>
        </p:nvSpPr>
        <p:spPr>
          <a:xfrm>
            <a:off x="6675120" y="731520"/>
            <a:ext cx="2240280" cy="914400"/>
          </a:xfrm>
          <a:prstGeom prst="roundRect">
            <a:avLst>
              <a:gd name="adj" fmla="val 8000"/>
            </a:avLst>
          </a:prstGeom>
          <a:solidFill>
            <a:srgbClr val="FFFBE6"/>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7" name="Text 4"/>
          <p:cNvSpPr/>
          <p:nvPr/>
        </p:nvSpPr>
        <p:spPr>
          <a:xfrm>
            <a:off x="6748272" y="76809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Erreur statique ≈ −0,01 m/s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quasi nulle (Ki compense)</a:t>
            </a:r>
            <a:endParaRPr lang="en-US" sz="1000" dirty="0"/>
          </a:p>
        </p:txBody>
      </p:sp>
      <p:sp>
        <p:nvSpPr>
          <p:cNvPr id="8" name="Shape 5"/>
          <p:cNvSpPr/>
          <p:nvPr/>
        </p:nvSpPr>
        <p:spPr>
          <a:xfrm>
            <a:off x="6675120" y="1783080"/>
            <a:ext cx="2240280" cy="914400"/>
          </a:xfrm>
          <a:prstGeom prst="roundRect">
            <a:avLst>
              <a:gd name="adj" fmla="val 8000"/>
            </a:avLst>
          </a:prstGeom>
          <a:solidFill>
            <a:srgbClr val="FFFBE6"/>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9" name="Text 6"/>
          <p:cNvSpPr/>
          <p:nvPr/>
        </p:nvSpPr>
        <p:spPr>
          <a:xfrm>
            <a:off x="6748272" y="181965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Dépassement 4,8% &lt; 5%</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(norme standard)</a:t>
            </a:r>
            <a:endParaRPr lang="en-US" sz="1000" dirty="0"/>
          </a:p>
        </p:txBody>
      </p:sp>
      <p:sp>
        <p:nvSpPr>
          <p:cNvPr id="10" name="Shape 7"/>
          <p:cNvSpPr/>
          <p:nvPr/>
        </p:nvSpPr>
        <p:spPr>
          <a:xfrm>
            <a:off x="6675120" y="2834640"/>
            <a:ext cx="2240280" cy="914400"/>
          </a:xfrm>
          <a:prstGeom prst="roundRect">
            <a:avLst>
              <a:gd name="adj" fmla="val 8000"/>
            </a:avLst>
          </a:prstGeom>
          <a:solidFill>
            <a:srgbClr val="FFFBE6"/>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11" name="Text 8"/>
          <p:cNvSpPr/>
          <p:nvPr/>
        </p:nvSpPr>
        <p:spPr>
          <a:xfrm>
            <a:off x="6748272" y="287121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tr5% ≈ 4 s — bon compromis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rapidité / stabilité</a:t>
            </a:r>
            <a:endParaRPr lang="en-US" sz="1000" dirty="0"/>
          </a:p>
        </p:txBody>
      </p:sp>
      <p:sp>
        <p:nvSpPr>
          <p:cNvPr id="12" name="Shape 9"/>
          <p:cNvSpPr/>
          <p:nvPr/>
        </p:nvSpPr>
        <p:spPr>
          <a:xfrm>
            <a:off x="6675120" y="3886200"/>
            <a:ext cx="2240280" cy="914400"/>
          </a:xfrm>
          <a:prstGeom prst="roundRect">
            <a:avLst>
              <a:gd name="adj" fmla="val 8000"/>
            </a:avLst>
          </a:prstGeom>
          <a:solidFill>
            <a:srgbClr val="FFFBE6"/>
          </a:solidFill>
          <a:ln w="15240">
            <a:solidFill>
              <a:srgbClr val="1E8449"/>
            </a:solidFill>
            <a:prstDash val="solid"/>
          </a:ln>
          <a:effectLst>
            <a:outerShdw sx="100000" sy="100000" kx="0" ky="0" algn="bl" rotWithShape="0" blurRad="76200" dist="25400" dir="2700000">
              <a:srgbClr val="000000">
                <a:alpha val="13000"/>
              </a:srgbClr>
            </a:outerShdw>
          </a:effectLst>
        </p:spPr>
      </p:sp>
      <p:sp>
        <p:nvSpPr>
          <p:cNvPr id="13" name="Text 10"/>
          <p:cNvSpPr/>
          <p:nvPr/>
        </p:nvSpPr>
        <p:spPr>
          <a:xfrm>
            <a:off x="6748272" y="3922776"/>
            <a:ext cx="2084832" cy="80467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  Mode distance ACC propre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freinage sans accélération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Comparaison des correcteurs — synthèse</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8503920" cy="3246120"/>
        </p:xfrm>
        <a:graphic>
          <a:graphicData uri="http://schemas.openxmlformats.org/drawingml/2006/table">
            <a:tbl>
              <a:tblPr/>
              <a:tblGrid>
                <a:gridCol w="914400"/>
                <a:gridCol w="1554480"/>
                <a:gridCol w="1371600"/>
                <a:gridCol w="1005840"/>
                <a:gridCol w="2011680"/>
                <a:gridCol w="1645920"/>
              </a:tblGrid>
              <a:tr h="5943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Correcteur</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Erreur statique</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Dépassement</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tr5%</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Commande distance</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A2E5A"/>
                    </a:solidFill>
                  </a:tcPr>
                </a:tc>
              </a:tr>
              <a:tr h="594360">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−0,23 m/s</a:t>
                      </a:r>
                      <a:endParaRPr lang="en-US" sz="1000" dirty="0">
                        <a:latin typeface="Calibri" charset="0"/>
                        <a:ea typeface="Calibri" charset="0"/>
                        <a:cs typeface="Calibri" charset="0"/>
                      </a:endParaRPr>
                    </a:p>
                    <a:p>
                      <a:pPr algn="ctr" indent="0" marL="0">
                        <a:buNone/>
                      </a:pPr>
                      <a:r>
                        <a:rPr lang="en-US" sz="1000" dirty="0">
                          <a:solidFill>
                            <a:srgbClr val="C0392B"/>
                          </a:solidFill>
                          <a:latin typeface="Calibri" pitchFamily="34" charset="0"/>
                          <a:ea typeface="Calibri" pitchFamily="34" charset="-122"/>
                          <a:cs typeface="Calibri" pitchFamily="34" charset="-120"/>
                        </a:rPr>
                        <a:t>(33 %)</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64748B"/>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N/A</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7D6608"/>
                          </a:solidFill>
                          <a:latin typeface="Calibri" pitchFamily="34" charset="0"/>
                          <a:ea typeface="Calibri" pitchFamily="34" charset="-122"/>
                          <a:cs typeface="Calibri" pitchFamily="34" charset="-120"/>
                        </a:rPr>
                        <a:t>Saccadée</a:t>
                      </a:r>
                      <a:endParaRPr lang="en-US" sz="1000" dirty="0">
                        <a:latin typeface="Calibri" charset="0"/>
                        <a:ea typeface="Calibri" charset="0"/>
                        <a:cs typeface="Calibri" charset="0"/>
                      </a:endParaRPr>
                    </a:p>
                    <a:p>
                      <a:pPr algn="ctr" indent="0" marL="0">
                        <a:buNone/>
                      </a:pPr>
                      <a:r>
                        <a:rPr lang="en-US" sz="1000" dirty="0">
                          <a:solidFill>
                            <a:srgbClr val="7D6608"/>
                          </a:solidFill>
                          <a:latin typeface="Calibri" pitchFamily="34" charset="0"/>
                          <a:ea typeface="Calibri" pitchFamily="34" charset="-122"/>
                          <a:cs typeface="Calibri" pitchFamily="34" charset="-120"/>
                        </a:rPr>
                        <a:t>(rd = 0)</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 Inacceptable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r>
              <a:tr h="594360">
                <a:tc>
                  <a:txBody>
                    <a:bodyPr/>
                    <a:lstStyle/>
                    <a:p>
                      <a:pPr algn="ctr" indent="0" marL="0">
                        <a:buNone/>
                      </a:pPr>
                      <a:r>
                        <a:rPr lang="en-US" sz="1150" b="1" dirty="0">
                          <a:solidFill>
                            <a:srgbClr val="1A5276"/>
                          </a:solidFill>
                          <a:latin typeface="Calibri" pitchFamily="34" charset="0"/>
                          <a:ea typeface="Calibri" pitchFamily="34" charset="-122"/>
                          <a:cs typeface="Calibri" pitchFamily="34" charset="-120"/>
                        </a:rPr>
                        <a:t>PI</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1E8449"/>
                          </a:solidFill>
                          <a:latin typeface="Calibri" pitchFamily="34" charset="0"/>
                          <a:ea typeface="Calibri" pitchFamily="34" charset="-122"/>
                          <a:cs typeface="Calibri" pitchFamily="34" charset="-120"/>
                        </a:rPr>
                        <a:t>→ 0</a:t>
                      </a:r>
                      <a:endParaRPr lang="en-US" sz="1000" dirty="0">
                        <a:latin typeface="Calibri" charset="0"/>
                        <a:ea typeface="Calibri" charset="0"/>
                        <a:cs typeface="Calibri" charset="0"/>
                      </a:endParaRPr>
                    </a:p>
                    <a:p>
                      <a:pPr algn="ctr" indent="0" marL="0">
                        <a:buNone/>
                      </a:pPr>
                      <a:r>
                        <a:rPr lang="en-US" sz="1000" dirty="0">
                          <a:solidFill>
                            <a:srgbClr val="1E8449"/>
                          </a:solidFill>
                          <a:latin typeface="Calibri" pitchFamily="34" charset="0"/>
                          <a:ea typeface="Calibri" pitchFamily="34" charset="-122"/>
                          <a:cs typeface="Calibri" pitchFamily="34" charset="-120"/>
                        </a:rPr>
                        <a:t>(~8 s)</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7D6608"/>
                          </a:solidFill>
                          <a:latin typeface="Calibri" pitchFamily="34" charset="0"/>
                          <a:ea typeface="Calibri" pitchFamily="34" charset="-122"/>
                          <a:cs typeface="Calibri" pitchFamily="34" charset="-120"/>
                        </a:rPr>
                        <a:t>7,5 s</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Lisse</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b="1" dirty="0">
                          <a:solidFill>
                            <a:srgbClr val="7D6608"/>
                          </a:solidFill>
                          <a:latin typeface="Calibri" pitchFamily="34" charset="0"/>
                          <a:ea typeface="Calibri" pitchFamily="34" charset="-122"/>
                          <a:cs typeface="Calibri" pitchFamily="34" charset="-120"/>
                        </a:rPr>
                        <a:t>⚠ Lent</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r>
              <a:tr h="594360">
                <a:tc>
                  <a:txBody>
                    <a:bodyPr/>
                    <a:lstStyle/>
                    <a:p>
                      <a:pPr algn="ctr" indent="0" marL="0">
                        <a:buNone/>
                      </a:pPr>
                      <a:r>
                        <a:rPr lang="en-US" sz="1150" b="1" dirty="0">
                          <a:solidFill>
                            <a:srgbClr val="1E8449"/>
                          </a:solidFill>
                          <a:latin typeface="Calibri" pitchFamily="34" charset="0"/>
                          <a:ea typeface="Calibri" pitchFamily="34" charset="-122"/>
                          <a:cs typeface="Calibri" pitchFamily="34" charset="-120"/>
                        </a:rPr>
                        <a:t>PD</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7D6608"/>
                          </a:solidFill>
                          <a:latin typeface="Calibri" pitchFamily="34" charset="0"/>
                          <a:ea typeface="Calibri" pitchFamily="34" charset="-122"/>
                          <a:cs typeface="Calibri" pitchFamily="34" charset="-120"/>
                        </a:rPr>
                        <a:t>−0,13 m/s</a:t>
                      </a:r>
                      <a:endParaRPr lang="en-US" sz="1000" dirty="0">
                        <a:latin typeface="Calibri" charset="0"/>
                        <a:ea typeface="Calibri" charset="0"/>
                        <a:cs typeface="Calibri" charset="0"/>
                      </a:endParaRPr>
                    </a:p>
                    <a:p>
                      <a:pPr algn="ctr" indent="0" marL="0">
                        <a:buNone/>
                      </a:pPr>
                      <a:r>
                        <a:rPr lang="en-US" sz="1000" dirty="0">
                          <a:solidFill>
                            <a:srgbClr val="7D6608"/>
                          </a:solidFill>
                          <a:latin typeface="Calibri" pitchFamily="34" charset="0"/>
                          <a:ea typeface="Calibri" pitchFamily="34" charset="-122"/>
                          <a:cs typeface="Calibri" pitchFamily="34" charset="-120"/>
                        </a:rPr>
                        <a:t>(19 %)</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14 %</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1,5 s</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Lisse</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b="1" dirty="0">
                          <a:solidFill>
                            <a:srgbClr val="7D6608"/>
                          </a:solidFill>
                          <a:latin typeface="Calibri" pitchFamily="34" charset="0"/>
                          <a:ea typeface="Calibri" pitchFamily="34" charset="-122"/>
                          <a:cs typeface="Calibri" pitchFamily="34" charset="-120"/>
                        </a:rPr>
                        <a:t>⚠ Imprécis</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r>
              <a:tr h="594360">
                <a:tc>
                  <a:txBody>
                    <a:bodyPr/>
                    <a:lstStyle/>
                    <a:p>
                      <a:pPr algn="ctr" indent="0" marL="0">
                        <a:buNone/>
                      </a:pPr>
                      <a:r>
                        <a:rPr lang="en-US" sz="1150" b="1" dirty="0">
                          <a:solidFill>
                            <a:srgbClr val="7D6608"/>
                          </a:solidFill>
                          <a:latin typeface="Calibri" pitchFamily="34" charset="0"/>
                          <a:ea typeface="Calibri" pitchFamily="34" charset="-122"/>
                          <a:cs typeface="Calibri" pitchFamily="34" charset="-120"/>
                        </a:rPr>
                        <a:t>PID</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1E8449"/>
                          </a:solidFill>
                          <a:latin typeface="Calibri" pitchFamily="34" charset="0"/>
                          <a:ea typeface="Calibri" pitchFamily="34" charset="-122"/>
                          <a:cs typeface="Calibri" pitchFamily="34" charset="-120"/>
                        </a:rPr>
                        <a:t>−0,01 m/s</a:t>
                      </a:r>
                      <a:endParaRPr lang="en-US" sz="1000" dirty="0">
                        <a:latin typeface="Calibri" charset="0"/>
                        <a:ea typeface="Calibri" charset="0"/>
                        <a:cs typeface="Calibri" charset="0"/>
                      </a:endParaRPr>
                    </a:p>
                    <a:p>
                      <a:pPr algn="ctr" indent="0" marL="0">
                        <a:buNone/>
                      </a:pPr>
                      <a:r>
                        <a:rPr lang="en-US" sz="1000" dirty="0">
                          <a:solidFill>
                            <a:srgbClr val="1E8449"/>
                          </a:solidFill>
                          <a:latin typeface="Calibri" pitchFamily="34" charset="0"/>
                          <a:ea typeface="Calibri" pitchFamily="34" charset="-122"/>
                          <a:cs typeface="Calibri" pitchFamily="34" charset="-120"/>
                        </a:rPr>
                        <a:t>(1 %)</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dirty="0">
                          <a:solidFill>
                            <a:srgbClr val="1E8449"/>
                          </a:solidFill>
                          <a:latin typeface="Calibri" pitchFamily="34" charset="0"/>
                          <a:ea typeface="Calibri" pitchFamily="34" charset="-122"/>
                          <a:cs typeface="Calibri" pitchFamily="34" charset="-120"/>
                        </a:rPr>
                        <a:t>4,8 % ≤ 5 %</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4 s</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150" dirty="0">
                          <a:solidFill>
                            <a:srgbClr val="1E8449"/>
                          </a:solidFill>
                          <a:latin typeface="Calibri" pitchFamily="34" charset="0"/>
                          <a:ea typeface="Calibri" pitchFamily="34" charset="-122"/>
                          <a:cs typeface="Calibri" pitchFamily="34" charset="-120"/>
                        </a:rPr>
                        <a:t>ACC propre</a:t>
                      </a:r>
                      <a:endParaRPr lang="en-US" sz="11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c>
                  <a:txBody>
                    <a:bodyPr/>
                    <a:lstStyle/>
                    <a:p>
                      <a:pPr algn="ctr" indent="0" marL="0">
                        <a:buNone/>
                      </a:pPr>
                      <a:r>
                        <a:rPr lang="en-US" sz="1000" b="1" dirty="0">
                          <a:solidFill>
                            <a:srgbClr val="1E8449"/>
                          </a:solidFill>
                          <a:latin typeface="Calibri" pitchFamily="34" charset="0"/>
                          <a:ea typeface="Calibri" pitchFamily="34" charset="-122"/>
                          <a:cs typeface="Calibri" pitchFamily="34" charset="-120"/>
                        </a:rPr>
                        <a:t>✓ Optimal</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AFBFF"/>
                    </a:solidFill>
                  </a:tcPr>
                </a:tc>
              </a:tr>
            </a:tbl>
          </a:graphicData>
        </a:graphic>
      </p:graphicFrame>
      <p:sp>
        <p:nvSpPr>
          <p:cNvPr id="4" name="Shape 1"/>
          <p:cNvSpPr/>
          <p:nvPr/>
        </p:nvSpPr>
        <p:spPr>
          <a:xfrm>
            <a:off x="320040" y="4160520"/>
            <a:ext cx="8503920" cy="1188720"/>
          </a:xfrm>
          <a:prstGeom prst="roundRect">
            <a:avLst>
              <a:gd name="adj" fmla="val 7692"/>
            </a:avLst>
          </a:prstGeom>
          <a:solidFill>
            <a:srgbClr val="1A2E5A"/>
          </a:solidFill>
          <a:ln/>
        </p:spPr>
      </p:sp>
      <p:sp>
        <p:nvSpPr>
          <p:cNvPr id="5" name="Text 2"/>
          <p:cNvSpPr/>
          <p:nvPr/>
        </p:nvSpPr>
        <p:spPr>
          <a:xfrm>
            <a:off x="457200" y="4206240"/>
            <a:ext cx="8321040" cy="1051560"/>
          </a:xfrm>
          <a:prstGeom prst="rect">
            <a:avLst/>
          </a:prstGeom>
          <a:noFill/>
          <a:ln/>
        </p:spPr>
        <p:txBody>
          <a:bodyPr wrap="square" rtlCol="0" anchor="ctr"/>
          <a:lstStyle/>
          <a:p>
            <a:pPr indent="0" marL="0">
              <a:buNone/>
            </a:pPr>
            <a:r>
              <a:rPr lang="en-US" sz="1150" b="1" dirty="0">
                <a:solidFill>
                  <a:srgbClr val="D6E4F7"/>
                </a:solidFill>
                <a:latin typeface="Calibri" pitchFamily="34" charset="0"/>
                <a:ea typeface="Calibri" pitchFamily="34" charset="-122"/>
                <a:cs typeface="Calibri" pitchFamily="34" charset="-120"/>
              </a:rPr>
              <a:t>Réponse à la problématique : </a:t>
            </a:r>
            <a:pPr indent="0" marL="0">
              <a:buNone/>
            </a:pPr>
            <a:r>
              <a:rPr lang="en-US" sz="1150" dirty="0">
                <a:solidFill>
                  <a:srgbClr val="FFFFFF"/>
                </a:solidFill>
                <a:latin typeface="Calibri" pitchFamily="34" charset="0"/>
                <a:ea typeface="Calibri" pitchFamily="34" charset="-122"/>
                <a:cs typeface="Calibri" pitchFamily="34" charset="-120"/>
              </a:rPr>
              <a:t>Le correcteur PID associé au feedforward 2-DOF est le seul à satisfaire simultanément les trois critères : erreur statique quasi nulle, dépassement conforme à la norme (&lt; 5 %), et temps de réponse acceptable (4 s). Les correcteurs partiels — P, PI, PD — présentent chacun un défaut rédhibitoire en conditions réelles.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Choix d'implémentation — innovations v19</a:t>
            </a:r>
            <a:endParaRPr lang="en-US" sz="2400" dirty="0"/>
          </a:p>
        </p:txBody>
      </p:sp>
      <p:sp>
        <p:nvSpPr>
          <p:cNvPr id="3" name="Shape 1"/>
          <p:cNvSpPr/>
          <p:nvPr/>
        </p:nvSpPr>
        <p:spPr>
          <a:xfrm>
            <a:off x="320040" y="914400"/>
            <a:ext cx="8503920" cy="1234440"/>
          </a:xfrm>
          <a:prstGeom prst="roundRect">
            <a:avLst>
              <a:gd name="adj" fmla="val 7407"/>
            </a:avLst>
          </a:prstGeom>
          <a:solidFill>
            <a:srgbClr val="F8FAFF"/>
          </a:solidFill>
          <a:ln w="16510">
            <a:solidFill>
              <a:srgbClr val="2563EB"/>
            </a:solidFill>
            <a:prstDash val="solid"/>
          </a:ln>
          <a:effectLst>
            <a:outerShdw sx="100000" sy="100000" kx="0" ky="0" algn="bl" rotWithShape="0" blurRad="76200" dist="25400" dir="2700000">
              <a:srgbClr val="000000">
                <a:alpha val="13000"/>
              </a:srgbClr>
            </a:outerShdw>
          </a:effectLst>
        </p:spPr>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①  Dérivée sur la mesure (anti-derivative-kick)</a:t>
            </a:r>
            <a:endParaRPr lang="en-US" sz="1200" dirty="0"/>
          </a:p>
        </p:txBody>
      </p:sp>
      <p:sp>
        <p:nvSpPr>
          <p:cNvPr id="5" name="Text 3"/>
          <p:cNvSpPr/>
          <p:nvPr/>
        </p:nvSpPr>
        <p:spPr>
          <a:xfrm>
            <a:off x="457200" y="1280160"/>
            <a:ext cx="8229600" cy="804672"/>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Avant : </a:t>
            </a:r>
            <a:pPr indent="0" marL="0">
              <a:buNone/>
            </a:pPr>
            <a:r>
              <a:rPr lang="en-US" sz="1050" dirty="0">
                <a:solidFill>
                  <a:srgbClr val="1E293B"/>
                </a:solidFill>
                <a:latin typeface="Calibri" pitchFamily="34" charset="0"/>
                <a:ea typeface="Calibri" pitchFamily="34" charset="-122"/>
                <a:cs typeface="Calibri" pitchFamily="34" charset="-120"/>
              </a:rPr>
              <a:t>Ancien : u_D = Kd × Δε/Δt → pic brutal à chaque changement de consigne
</a:t>
            </a:r>
            <a:pPr indent="0" marL="0">
              <a:buNone/>
            </a:pPr>
            <a:r>
              <a:rPr lang="en-US" sz="1050" b="1" dirty="0">
                <a:solidFill>
                  <a:srgbClr val="1E8449"/>
                </a:solidFill>
                <a:latin typeface="Calibri" pitchFamily="34" charset="0"/>
                <a:ea typeface="Calibri" pitchFamily="34" charset="-122"/>
                <a:cs typeface="Calibri" pitchFamily="34" charset="-120"/>
              </a:rPr>
              <a:t>Après : </a:t>
            </a:r>
            <a:pPr indent="0" marL="0">
              <a:buNone/>
            </a:pPr>
            <a:r>
              <a:rPr lang="en-US" sz="1050" dirty="0">
                <a:solidFill>
                  <a:srgbClr val="1E293B"/>
                </a:solidFill>
                <a:latin typeface="Calibri" pitchFamily="34" charset="0"/>
                <a:ea typeface="Calibri" pitchFamily="34" charset="-122"/>
                <a:cs typeface="Calibri" pitchFamily="34" charset="-120"/>
              </a:rPr>
              <a:t>Nouveau : u_D = −Kd × Δv/Δt → continu même lors des transitions de mode</a:t>
            </a:r>
            <a:endParaRPr lang="en-US" sz="1050" dirty="0"/>
          </a:p>
        </p:txBody>
      </p:sp>
      <p:sp>
        <p:nvSpPr>
          <p:cNvPr id="6" name="Shape 4"/>
          <p:cNvSpPr/>
          <p:nvPr/>
        </p:nvSpPr>
        <p:spPr>
          <a:xfrm>
            <a:off x="320040" y="2331720"/>
            <a:ext cx="8503920" cy="1234440"/>
          </a:xfrm>
          <a:prstGeom prst="roundRect">
            <a:avLst>
              <a:gd name="adj" fmla="val 7407"/>
            </a:avLst>
          </a:prstGeom>
          <a:solidFill>
            <a:srgbClr val="F8FAFF"/>
          </a:solidFill>
          <a:ln w="16510">
            <a:solidFill>
              <a:srgbClr val="1E8449"/>
            </a:solidFill>
            <a:prstDash val="solid"/>
          </a:ln>
          <a:effectLst>
            <a:outerShdw sx="100000" sy="100000" kx="0" ky="0" algn="bl" rotWithShape="0" blurRad="76200" dist="25400" dir="2700000">
              <a:srgbClr val="000000">
                <a:alpha val="13000"/>
              </a:srgbClr>
            </a:outerShdw>
          </a:effectLst>
        </p:spPr>
      </p:sp>
      <p:sp>
        <p:nvSpPr>
          <p:cNvPr id="7" name="Text 5"/>
          <p:cNvSpPr/>
          <p:nvPr/>
        </p:nvSpPr>
        <p:spPr>
          <a:xfrm>
            <a:off x="457200" y="2377440"/>
            <a:ext cx="8229600" cy="320040"/>
          </a:xfrm>
          <a:prstGeom prst="rect">
            <a:avLst/>
          </a:prstGeom>
          <a:noFill/>
          <a:ln/>
        </p:spPr>
        <p:txBody>
          <a:bodyPr wrap="square" rtlCol="0" anchor="ctr"/>
          <a:lstStyle/>
          <a:p>
            <a:pPr indent="0" marL="0">
              <a:buNone/>
            </a:pPr>
            <a:r>
              <a:rPr lang="en-US" sz="1200" b="1" dirty="0">
                <a:solidFill>
                  <a:srgbClr val="1E8449"/>
                </a:solidFill>
                <a:latin typeface="Calibri" pitchFamily="34" charset="0"/>
                <a:ea typeface="Calibri" pitchFamily="34" charset="-122"/>
                <a:cs typeface="Calibri" pitchFamily="34" charset="-120"/>
              </a:rPr>
              <a:t>②  Continuité de l'intégrale aux transitions 2↔3</a:t>
            </a:r>
            <a:endParaRPr lang="en-US" sz="1200" dirty="0"/>
          </a:p>
        </p:txBody>
      </p:sp>
      <p:sp>
        <p:nvSpPr>
          <p:cNvPr id="8" name="Text 6"/>
          <p:cNvSpPr/>
          <p:nvPr/>
        </p:nvSpPr>
        <p:spPr>
          <a:xfrm>
            <a:off x="457200" y="2697480"/>
            <a:ext cx="8229600" cy="804672"/>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Avant : </a:t>
            </a:r>
            <a:pPr indent="0" marL="0">
              <a:buNone/>
            </a:pPr>
            <a:r>
              <a:rPr lang="en-US" sz="1050" dirty="0">
                <a:solidFill>
                  <a:srgbClr val="1E293B"/>
                </a:solidFill>
                <a:latin typeface="Calibri" pitchFamily="34" charset="0"/>
                <a:ea typeface="Calibri" pitchFamily="34" charset="-122"/>
                <a:cs typeface="Calibri" pitchFamily="34" charset="-120"/>
              </a:rPr>
              <a:t>Ancien : remise à zéro de l'intégrale à chaque changement de mode
</a:t>
            </a:r>
            <a:pPr indent="0" marL="0">
              <a:buNone/>
            </a:pPr>
            <a:r>
              <a:rPr lang="en-US" sz="1050" b="1" dirty="0">
                <a:solidFill>
                  <a:srgbClr val="1E8449"/>
                </a:solidFill>
                <a:latin typeface="Calibri" pitchFamily="34" charset="0"/>
                <a:ea typeface="Calibri" pitchFamily="34" charset="-122"/>
                <a:cs typeface="Calibri" pitchFamily="34" charset="-120"/>
              </a:rPr>
              <a:t>Après : </a:t>
            </a:r>
            <a:pPr indent="0" marL="0">
              <a:buNone/>
            </a:pPr>
            <a:r>
              <a:rPr lang="en-US" sz="1050" dirty="0">
                <a:solidFill>
                  <a:srgbClr val="1E293B"/>
                </a:solidFill>
                <a:latin typeface="Calibri" pitchFamily="34" charset="0"/>
                <a:ea typeface="Calibri" pitchFamily="34" charset="-122"/>
                <a:cs typeface="Calibri" pitchFamily="34" charset="-120"/>
              </a:rPr>
              <a:t>Nouveau : l'intégrale persiste → pas de saut de commande → pas d'accélération</a:t>
            </a:r>
            <a:endParaRPr lang="en-US" sz="1050" dirty="0"/>
          </a:p>
        </p:txBody>
      </p:sp>
      <p:sp>
        <p:nvSpPr>
          <p:cNvPr id="9" name="Shape 7"/>
          <p:cNvSpPr/>
          <p:nvPr/>
        </p:nvSpPr>
        <p:spPr>
          <a:xfrm>
            <a:off x="320040" y="3749040"/>
            <a:ext cx="8503920" cy="1234440"/>
          </a:xfrm>
          <a:prstGeom prst="roundRect">
            <a:avLst>
              <a:gd name="adj" fmla="val 7407"/>
            </a:avLst>
          </a:prstGeom>
          <a:solidFill>
            <a:srgbClr val="F8FAFF"/>
          </a:solidFill>
          <a:ln w="16510">
            <a:solidFill>
              <a:srgbClr val="7D6608"/>
            </a:solidFill>
            <a:prstDash val="solid"/>
          </a:ln>
          <a:effectLst>
            <a:outerShdw sx="100000" sy="100000" kx="0" ky="0" algn="bl" rotWithShape="0" blurRad="76200" dist="25400" dir="2700000">
              <a:srgbClr val="000000">
                <a:alpha val="13000"/>
              </a:srgbClr>
            </a:outerShdw>
          </a:effectLst>
        </p:spPr>
      </p:sp>
      <p:sp>
        <p:nvSpPr>
          <p:cNvPr id="10" name="Text 8"/>
          <p:cNvSpPr/>
          <p:nvPr/>
        </p:nvSpPr>
        <p:spPr>
          <a:xfrm>
            <a:off x="457200" y="3794760"/>
            <a:ext cx="8229600" cy="320040"/>
          </a:xfrm>
          <a:prstGeom prst="rect">
            <a:avLst/>
          </a:prstGeom>
          <a:noFill/>
          <a:ln/>
        </p:spPr>
        <p:txBody>
          <a:bodyPr wrap="square" rtlCol="0" anchor="ctr"/>
          <a:lstStyle/>
          <a:p>
            <a:pPr indent="0" marL="0">
              <a:buNone/>
            </a:pPr>
            <a:r>
              <a:rPr lang="en-US" sz="1200" b="1" dirty="0">
                <a:solidFill>
                  <a:srgbClr val="7D6608"/>
                </a:solidFill>
                <a:latin typeface="Calibri" pitchFamily="34" charset="0"/>
                <a:ea typeface="Calibri" pitchFamily="34" charset="-122"/>
                <a:cs typeface="Calibri" pitchFamily="34" charset="-120"/>
              </a:rPr>
              <a:t>③  Anti-windup freinage</a:t>
            </a:r>
            <a:endParaRPr lang="en-US" sz="1200" dirty="0"/>
          </a:p>
        </p:txBody>
      </p:sp>
      <p:sp>
        <p:nvSpPr>
          <p:cNvPr id="11" name="Text 9"/>
          <p:cNvSpPr/>
          <p:nvPr/>
        </p:nvSpPr>
        <p:spPr>
          <a:xfrm>
            <a:off x="457200" y="4114800"/>
            <a:ext cx="8229600" cy="804672"/>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Avant : </a:t>
            </a:r>
            <a:pPr indent="0" marL="0">
              <a:buNone/>
            </a:pPr>
            <a:r>
              <a:rPr lang="en-US" sz="1050" dirty="0">
                <a:solidFill>
                  <a:srgbClr val="1E293B"/>
                </a:solidFill>
                <a:latin typeface="Calibri" pitchFamily="34" charset="0"/>
                <a:ea typeface="Calibri" pitchFamily="34" charset="-122"/>
                <a:cs typeface="Calibri" pitchFamily="34" charset="-120"/>
              </a:rPr>
              <a:t>Problème : pendant le freinage, l'intégrale accumulait une erreur fictive
</a:t>
            </a:r>
            <a:pPr indent="0" marL="0">
              <a:buNone/>
            </a:pPr>
            <a:r>
              <a:rPr lang="en-US" sz="1050" b="1" dirty="0">
                <a:solidFill>
                  <a:srgbClr val="1E8449"/>
                </a:solidFill>
                <a:latin typeface="Calibri" pitchFamily="34" charset="0"/>
                <a:ea typeface="Calibri" pitchFamily="34" charset="-122"/>
                <a:cs typeface="Calibri" pitchFamily="34" charset="-120"/>
              </a:rPr>
              <a:t>Après : </a:t>
            </a:r>
            <a:pPr indent="0" marL="0">
              <a:buNone/>
            </a:pPr>
            <a:r>
              <a:rPr lang="en-US" sz="1050" dirty="0">
                <a:solidFill>
                  <a:srgbClr val="1E293B"/>
                </a:solidFill>
                <a:latin typeface="Calibri" pitchFamily="34" charset="0"/>
                <a:ea typeface="Calibri" pitchFamily="34" charset="-122"/>
                <a:cs typeface="Calibri" pitchFamily="34" charset="-120"/>
              </a:rPr>
              <a:t>Solution : gel de l'intégrale quand freinage &gt; 0 → retour propre à Vc</a:t>
            </a:r>
            <a:endParaRPr lang="en-US" sz="1050" dirty="0"/>
          </a:p>
        </p:txBody>
      </p:sp>
      <p:sp>
        <p:nvSpPr>
          <p:cNvPr id="12" name="Shape 10"/>
          <p:cNvSpPr/>
          <p:nvPr/>
        </p:nvSpPr>
        <p:spPr>
          <a:xfrm>
            <a:off x="320040" y="5166360"/>
            <a:ext cx="8503920" cy="1234440"/>
          </a:xfrm>
          <a:prstGeom prst="roundRect">
            <a:avLst>
              <a:gd name="adj" fmla="val 7407"/>
            </a:avLst>
          </a:prstGeom>
          <a:solidFill>
            <a:srgbClr val="F8FAFF"/>
          </a:solidFill>
          <a:ln w="16510">
            <a:solidFill>
              <a:srgbClr val="C0392B"/>
            </a:solidFill>
            <a:prstDash val="solid"/>
          </a:ln>
          <a:effectLst>
            <a:outerShdw sx="100000" sy="100000" kx="0" ky="0" algn="bl" rotWithShape="0" blurRad="76200" dist="25400" dir="2700000">
              <a:srgbClr val="000000">
                <a:alpha val="13000"/>
              </a:srgbClr>
            </a:outerShdw>
          </a:effectLst>
        </p:spPr>
      </p:sp>
      <p:sp>
        <p:nvSpPr>
          <p:cNvPr id="13" name="Text 11"/>
          <p:cNvSpPr/>
          <p:nvPr/>
        </p:nvSpPr>
        <p:spPr>
          <a:xfrm>
            <a:off x="457200" y="5212080"/>
            <a:ext cx="82296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④  Kick-start par correcteur</a:t>
            </a:r>
            <a:endParaRPr lang="en-US" sz="1200" dirty="0"/>
          </a:p>
        </p:txBody>
      </p:sp>
      <p:sp>
        <p:nvSpPr>
          <p:cNvPr id="14" name="Text 12"/>
          <p:cNvSpPr/>
          <p:nvPr/>
        </p:nvSpPr>
        <p:spPr>
          <a:xfrm>
            <a:off x="457200" y="5532120"/>
            <a:ext cx="8229600" cy="804672"/>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Avant : </a:t>
            </a:r>
            <a:pPr indent="0" marL="0">
              <a:buNone/>
            </a:pPr>
            <a:r>
              <a:rPr lang="en-US" sz="1050" dirty="0">
                <a:solidFill>
                  <a:srgbClr val="1E293B"/>
                </a:solidFill>
                <a:latin typeface="Calibri" pitchFamily="34" charset="0"/>
                <a:ea typeface="Calibri" pitchFamily="34" charset="-122"/>
                <a:cs typeface="Calibri" pitchFamily="34" charset="-120"/>
              </a:rPr>
              <a:t>Ancien : kick unique (190 PWM, 150 ms) pour tous les correcteurs
</a:t>
            </a:r>
            <a:pPr indent="0" marL="0">
              <a:buNone/>
            </a:pPr>
            <a:r>
              <a:rPr lang="en-US" sz="1050" b="1" dirty="0">
                <a:solidFill>
                  <a:srgbClr val="1E8449"/>
                </a:solidFill>
                <a:latin typeface="Calibri" pitchFamily="34" charset="0"/>
                <a:ea typeface="Calibri" pitchFamily="34" charset="-122"/>
                <a:cs typeface="Calibri" pitchFamily="34" charset="-120"/>
              </a:rPr>
              <a:t>Après : </a:t>
            </a:r>
            <a:pPr indent="0" marL="0">
              <a:buNone/>
            </a:pPr>
            <a:r>
              <a:rPr lang="en-US" sz="1050" dirty="0">
                <a:solidFill>
                  <a:srgbClr val="1E293B"/>
                </a:solidFill>
                <a:latin typeface="Calibri" pitchFamily="34" charset="0"/>
                <a:ea typeface="Calibri" pitchFamily="34" charset="-122"/>
                <a:cs typeface="Calibri" pitchFamily="34" charset="-120"/>
              </a:rPr>
              <a:t>Nouveau : P/PI → 209 PWM/250 ms, PD → 255 PWM/800 ms, PID → 153 PWM/1000 ms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Limites et perspectives</a:t>
            </a:r>
            <a:endParaRPr lang="en-US" sz="2400" dirty="0"/>
          </a:p>
        </p:txBody>
      </p:sp>
      <p:sp>
        <p:nvSpPr>
          <p:cNvPr id="3" name="Shape 1"/>
          <p:cNvSpPr/>
          <p:nvPr/>
        </p:nvSpPr>
        <p:spPr>
          <a:xfrm>
            <a:off x="320040" y="914400"/>
            <a:ext cx="4114800" cy="1645920"/>
          </a:xfrm>
          <a:prstGeom prst="roundRect">
            <a:avLst>
              <a:gd name="adj" fmla="val 5556"/>
            </a:avLst>
          </a:prstGeom>
          <a:solidFill>
            <a:srgbClr val="F8FAFF"/>
          </a:solidFill>
          <a:ln w="16510">
            <a:solidFill>
              <a:srgbClr val="7D6608"/>
            </a:solidFill>
            <a:prstDash val="solid"/>
          </a:ln>
          <a:effectLst>
            <a:outerShdw sx="100000" sy="100000" kx="0" ky="0" algn="bl" rotWithShape="0" blurRad="76200" dist="25400" dir="2700000">
              <a:srgbClr val="000000">
                <a:alpha val="13000"/>
              </a:srgbClr>
            </a:outerShdw>
          </a:effectLst>
        </p:spPr>
      </p:sp>
      <p:sp>
        <p:nvSpPr>
          <p:cNvPr id="4" name="Text 2"/>
          <p:cNvSpPr/>
          <p:nvPr/>
        </p:nvSpPr>
        <p:spPr>
          <a:xfrm>
            <a:off x="429768" y="969264"/>
            <a:ext cx="3895344" cy="347472"/>
          </a:xfrm>
          <a:prstGeom prst="rect">
            <a:avLst/>
          </a:prstGeom>
          <a:noFill/>
          <a:ln/>
        </p:spPr>
        <p:txBody>
          <a:bodyPr wrap="square" rtlCol="0" anchor="ctr"/>
          <a:lstStyle/>
          <a:p>
            <a:pPr indent="0" marL="0">
              <a:buNone/>
            </a:pPr>
            <a:r>
              <a:rPr lang="en-US" sz="1200" b="1" dirty="0">
                <a:solidFill>
                  <a:srgbClr val="7D6608"/>
                </a:solidFill>
                <a:latin typeface="Calibri" pitchFamily="34" charset="0"/>
                <a:ea typeface="Calibri" pitchFamily="34" charset="-122"/>
                <a:cs typeface="Calibri" pitchFamily="34" charset="-120"/>
              </a:rPr>
              <a:t>📡  Capteur HC-SR04</a:t>
            </a:r>
            <a:endParaRPr lang="en-US" sz="1200" dirty="0"/>
          </a:p>
        </p:txBody>
      </p:sp>
      <p:sp>
        <p:nvSpPr>
          <p:cNvPr id="5" name="Text 3"/>
          <p:cNvSpPr/>
          <p:nvPr/>
        </p:nvSpPr>
        <p:spPr>
          <a:xfrm>
            <a:off x="429768" y="1353312"/>
            <a:ext cx="3895344" cy="1115568"/>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Résolution de 2 cm — oscillations de commande à basse vitesse. Un capteur ToF (LiDAR) améliorerait la précision d'un facteur 10.</a:t>
            </a:r>
            <a:endParaRPr lang="en-US" sz="1050" dirty="0"/>
          </a:p>
        </p:txBody>
      </p:sp>
      <p:sp>
        <p:nvSpPr>
          <p:cNvPr id="6" name="Shape 4"/>
          <p:cNvSpPr/>
          <p:nvPr/>
        </p:nvSpPr>
        <p:spPr>
          <a:xfrm>
            <a:off x="320040" y="2743200"/>
            <a:ext cx="4114800" cy="1645920"/>
          </a:xfrm>
          <a:prstGeom prst="roundRect">
            <a:avLst>
              <a:gd name="adj" fmla="val 5556"/>
            </a:avLst>
          </a:prstGeom>
          <a:solidFill>
            <a:srgbClr val="F8FAFF"/>
          </a:solidFill>
          <a:ln w="16510">
            <a:solidFill>
              <a:srgbClr val="1A5276"/>
            </a:solidFill>
            <a:prstDash val="solid"/>
          </a:ln>
          <a:effectLst>
            <a:outerShdw sx="100000" sy="100000" kx="0" ky="0" algn="bl" rotWithShape="0" blurRad="76200" dist="25400" dir="2700000">
              <a:srgbClr val="000000">
                <a:alpha val="13000"/>
              </a:srgbClr>
            </a:outerShdw>
          </a:effectLst>
        </p:spPr>
      </p:sp>
      <p:sp>
        <p:nvSpPr>
          <p:cNvPr id="7" name="Text 5"/>
          <p:cNvSpPr/>
          <p:nvPr/>
        </p:nvSpPr>
        <p:spPr>
          <a:xfrm>
            <a:off x="429768" y="2798064"/>
            <a:ext cx="3895344" cy="347472"/>
          </a:xfrm>
          <a:prstGeom prst="rect">
            <a:avLst/>
          </a:prstGeom>
          <a:noFill/>
          <a:ln/>
        </p:spPr>
        <p:txBody>
          <a:bodyPr wrap="square" rtlCol="0" anchor="ctr"/>
          <a:lstStyle/>
          <a:p>
            <a:pPr indent="0" marL="0">
              <a:buNone/>
            </a:pPr>
            <a:r>
              <a:rPr lang="en-US" sz="1200" b="1" dirty="0">
                <a:solidFill>
                  <a:srgbClr val="1A5276"/>
                </a:solidFill>
                <a:latin typeface="Calibri" pitchFamily="34" charset="0"/>
                <a:ea typeface="Calibri" pitchFamily="34" charset="-122"/>
                <a:cs typeface="Calibri" pitchFamily="34" charset="-120"/>
              </a:rPr>
              <a:t>🧲  Capteur Hall (3 aimants)</a:t>
            </a:r>
            <a:endParaRPr lang="en-US" sz="1200" dirty="0"/>
          </a:p>
        </p:txBody>
      </p:sp>
      <p:sp>
        <p:nvSpPr>
          <p:cNvPr id="8" name="Text 6"/>
          <p:cNvSpPr/>
          <p:nvPr/>
        </p:nvSpPr>
        <p:spPr>
          <a:xfrm>
            <a:off x="429768" y="3182112"/>
            <a:ext cx="3895344" cy="1115568"/>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Bruit périodique à 8 Hz visible sur les courbes. 6 aimants (v18) réduiraient l'incertitude à 1,2 %.</a:t>
            </a:r>
            <a:endParaRPr lang="en-US" sz="1050" dirty="0"/>
          </a:p>
        </p:txBody>
      </p:sp>
      <p:sp>
        <p:nvSpPr>
          <p:cNvPr id="9" name="Shape 7"/>
          <p:cNvSpPr/>
          <p:nvPr/>
        </p:nvSpPr>
        <p:spPr>
          <a:xfrm>
            <a:off x="4663440" y="914400"/>
            <a:ext cx="4114800" cy="1645920"/>
          </a:xfrm>
          <a:prstGeom prst="roundRect">
            <a:avLst>
              <a:gd name="adj" fmla="val 5556"/>
            </a:avLst>
          </a:prstGeom>
          <a:solidFill>
            <a:srgbClr val="F8FAFF"/>
          </a:solidFill>
          <a:ln w="16510">
            <a:solidFill>
              <a:srgbClr val="C0392B"/>
            </a:solidFill>
            <a:prstDash val="solid"/>
          </a:ln>
          <a:effectLst>
            <a:outerShdw sx="100000" sy="100000" kx="0" ky="0" algn="bl" rotWithShape="0" blurRad="76200" dist="25400" dir="2700000">
              <a:srgbClr val="000000">
                <a:alpha val="13000"/>
              </a:srgbClr>
            </a:outerShdw>
          </a:effectLst>
        </p:spPr>
      </p:sp>
      <p:sp>
        <p:nvSpPr>
          <p:cNvPr id="10" name="Text 8"/>
          <p:cNvSpPr/>
          <p:nvPr/>
        </p:nvSpPr>
        <p:spPr>
          <a:xfrm>
            <a:off x="4773168" y="969264"/>
            <a:ext cx="3895344" cy="347472"/>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Batterie et K_moteur</a:t>
            </a:r>
            <a:endParaRPr lang="en-US" sz="1200" dirty="0"/>
          </a:p>
        </p:txBody>
      </p:sp>
      <p:sp>
        <p:nvSpPr>
          <p:cNvPr id="11" name="Text 9"/>
          <p:cNvSpPr/>
          <p:nvPr/>
        </p:nvSpPr>
        <p:spPr>
          <a:xfrm>
            <a:off x="4773168" y="1353312"/>
            <a:ext cx="3895344" cy="1115568"/>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 diminue de ~40 % quand la batterie se décharge → erreur statique croissante. Un observateur de K corrigerait ce biais.</a:t>
            </a:r>
            <a:endParaRPr lang="en-US" sz="1050" dirty="0"/>
          </a:p>
        </p:txBody>
      </p:sp>
      <p:sp>
        <p:nvSpPr>
          <p:cNvPr id="12" name="Shape 10"/>
          <p:cNvSpPr/>
          <p:nvPr/>
        </p:nvSpPr>
        <p:spPr>
          <a:xfrm>
            <a:off x="4663440" y="2743200"/>
            <a:ext cx="4114800" cy="1645920"/>
          </a:xfrm>
          <a:prstGeom prst="roundRect">
            <a:avLst>
              <a:gd name="adj" fmla="val 5556"/>
            </a:avLst>
          </a:prstGeom>
          <a:solidFill>
            <a:srgbClr val="F8FAFF"/>
          </a:solidFill>
          <a:ln w="16510">
            <a:solidFill>
              <a:srgbClr val="1E8449"/>
            </a:solidFill>
            <a:prstDash val="solid"/>
          </a:ln>
          <a:effectLst>
            <a:outerShdw sx="100000" sy="100000" kx="0" ky="0" algn="bl" rotWithShape="0" blurRad="76200" dist="25400" dir="2700000">
              <a:srgbClr val="000000">
                <a:alpha val="13000"/>
              </a:srgbClr>
            </a:outerShdw>
          </a:effectLst>
        </p:spPr>
      </p:sp>
      <p:sp>
        <p:nvSpPr>
          <p:cNvPr id="13" name="Text 11"/>
          <p:cNvSpPr/>
          <p:nvPr/>
        </p:nvSpPr>
        <p:spPr>
          <a:xfrm>
            <a:off x="4773168" y="2798064"/>
            <a:ext cx="3895344" cy="347472"/>
          </a:xfrm>
          <a:prstGeom prst="rect">
            <a:avLst/>
          </a:prstGeom>
          <a:noFill/>
          <a:ln/>
        </p:spPr>
        <p:txBody>
          <a:bodyPr wrap="square" rtlCol="0" anchor="ctr"/>
          <a:lstStyle/>
          <a:p>
            <a:pPr indent="0" marL="0">
              <a:buNone/>
            </a:pPr>
            <a:r>
              <a:rPr lang="en-US" sz="1200" b="1" dirty="0">
                <a:solidFill>
                  <a:srgbClr val="1E8449"/>
                </a:solidFill>
                <a:latin typeface="Calibri" pitchFamily="34" charset="0"/>
                <a:ea typeface="Calibri" pitchFamily="34" charset="-122"/>
                <a:cs typeface="Calibri" pitchFamily="34" charset="-120"/>
              </a:rPr>
              <a:t>🏎  Généralisation à l'ACC réel</a:t>
            </a:r>
            <a:endParaRPr lang="en-US" sz="1200" dirty="0"/>
          </a:p>
        </p:txBody>
      </p:sp>
      <p:sp>
        <p:nvSpPr>
          <p:cNvPr id="14" name="Text 12"/>
          <p:cNvSpPr/>
          <p:nvPr/>
        </p:nvSpPr>
        <p:spPr>
          <a:xfrm>
            <a:off x="4773168" y="3182112"/>
            <a:ext cx="3895344" cy="1115568"/>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À haute vitesse, la distance de sécurité doit croître avec v (headway time constant). Piste : Dc = v × t_headway.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E5A"/>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3" name="Shape 1"/>
          <p:cNvSpPr/>
          <p:nvPr/>
        </p:nvSpPr>
        <p:spPr>
          <a:xfrm>
            <a:off x="457200" y="1143000"/>
            <a:ext cx="8229600" cy="1097280"/>
          </a:xfrm>
          <a:prstGeom prst="roundRect">
            <a:avLst>
              <a:gd name="adj" fmla="val 8333"/>
            </a:avLst>
          </a:prstGeom>
          <a:solidFill>
            <a:srgbClr val="243B6A"/>
          </a:solidFill>
          <a:ln w="12700">
            <a:solidFill>
              <a:srgbClr val="3A5590"/>
            </a:solidFill>
            <a:prstDash val="solid"/>
          </a:ln>
        </p:spPr>
      </p:sp>
      <p:sp>
        <p:nvSpPr>
          <p:cNvPr id="4" name="Text 2"/>
          <p:cNvSpPr/>
          <p:nvPr/>
        </p:nvSpPr>
        <p:spPr>
          <a:xfrm>
            <a:off x="594360" y="1207008"/>
            <a:ext cx="7909560" cy="96926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Architecture 2-DOF : feedforward (modèle inverse) + correcteur PID = meilleur compromis sur tous les critères mesurés</a:t>
            </a:r>
            <a:endParaRPr lang="en-US" sz="1200" dirty="0"/>
          </a:p>
        </p:txBody>
      </p:sp>
      <p:sp>
        <p:nvSpPr>
          <p:cNvPr id="5" name="Shape 3"/>
          <p:cNvSpPr/>
          <p:nvPr/>
        </p:nvSpPr>
        <p:spPr>
          <a:xfrm>
            <a:off x="457200" y="2377440"/>
            <a:ext cx="8229600" cy="1097280"/>
          </a:xfrm>
          <a:prstGeom prst="roundRect">
            <a:avLst>
              <a:gd name="adj" fmla="val 8333"/>
            </a:avLst>
          </a:prstGeom>
          <a:solidFill>
            <a:srgbClr val="243B6A"/>
          </a:solidFill>
          <a:ln w="12700">
            <a:solidFill>
              <a:srgbClr val="3A5590"/>
            </a:solidFill>
            <a:prstDash val="solid"/>
          </a:ln>
        </p:spPr>
      </p:sp>
      <p:sp>
        <p:nvSpPr>
          <p:cNvPr id="6" name="Text 4"/>
          <p:cNvSpPr/>
          <p:nvPr/>
        </p:nvSpPr>
        <p:spPr>
          <a:xfrm>
            <a:off x="594360" y="2441448"/>
            <a:ext cx="7909560" cy="96926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Critères validés expérimentalement : erreur statique &lt; 1 %, dépassement 4,8 % &lt; 5 % (norme), tr5% = 4 s</a:t>
            </a:r>
            <a:endParaRPr lang="en-US" sz="1200" dirty="0"/>
          </a:p>
        </p:txBody>
      </p:sp>
      <p:sp>
        <p:nvSpPr>
          <p:cNvPr id="7" name="Shape 5"/>
          <p:cNvSpPr/>
          <p:nvPr/>
        </p:nvSpPr>
        <p:spPr>
          <a:xfrm>
            <a:off x="457200" y="3611880"/>
            <a:ext cx="8229600" cy="1097280"/>
          </a:xfrm>
          <a:prstGeom prst="roundRect">
            <a:avLst>
              <a:gd name="adj" fmla="val 8333"/>
            </a:avLst>
          </a:prstGeom>
          <a:solidFill>
            <a:srgbClr val="243B6A"/>
          </a:solidFill>
          <a:ln w="12700">
            <a:solidFill>
              <a:srgbClr val="3A5590"/>
            </a:solidFill>
            <a:prstDash val="solid"/>
          </a:ln>
        </p:spPr>
      </p:sp>
      <p:sp>
        <p:nvSpPr>
          <p:cNvPr id="8" name="Text 6"/>
          <p:cNvSpPr/>
          <p:nvPr/>
        </p:nvSpPr>
        <p:spPr>
          <a:xfrm>
            <a:off x="594360" y="3675888"/>
            <a:ext cx="7909560" cy="96926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Mode ACC réaliste : maintien de vitesse + freinage proportionnel à la proximité (v19) — sans accélération vers l'obstacle</a:t>
            </a:r>
            <a:endParaRPr lang="en-US" sz="1200" dirty="0"/>
          </a:p>
        </p:txBody>
      </p:sp>
      <p:sp>
        <p:nvSpPr>
          <p:cNvPr id="9" name="Shape 7"/>
          <p:cNvSpPr/>
          <p:nvPr/>
        </p:nvSpPr>
        <p:spPr>
          <a:xfrm>
            <a:off x="457200" y="4846320"/>
            <a:ext cx="8229600" cy="1097280"/>
          </a:xfrm>
          <a:prstGeom prst="roundRect">
            <a:avLst>
              <a:gd name="adj" fmla="val 8333"/>
            </a:avLst>
          </a:prstGeom>
          <a:solidFill>
            <a:srgbClr val="243B6A"/>
          </a:solidFill>
          <a:ln w="12700">
            <a:solidFill>
              <a:srgbClr val="3A5590"/>
            </a:solidFill>
            <a:prstDash val="solid"/>
          </a:ln>
        </p:spPr>
      </p:sp>
      <p:sp>
        <p:nvSpPr>
          <p:cNvPr id="10" name="Text 8"/>
          <p:cNvSpPr/>
          <p:nvPr/>
        </p:nvSpPr>
        <p:spPr>
          <a:xfrm>
            <a:off x="594360" y="4910328"/>
            <a:ext cx="7909560" cy="96926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Ancrage au thème : la boucle fermée est un cycle discret 50 ms — mesure → calcul → action → mesure — incarnant la notion de « Cycles et boucles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algn="l" indent="0" marL="0">
              <a:buNone/>
            </a:pPr>
            <a:r>
              <a:rPr lang="en-US" sz="2400" b="1" dirty="0">
                <a:solidFill>
                  <a:srgbClr val="1A2E5A"/>
                </a:solidFill>
                <a:latin typeface="Cambria" pitchFamily="34" charset="0"/>
                <a:ea typeface="Cambria" pitchFamily="34" charset="-122"/>
                <a:cs typeface="Cambria" pitchFamily="34" charset="-120"/>
              </a:rPr>
              <a:t>Bibliographie</a:t>
            </a:r>
            <a:endParaRPr lang="en-US" sz="2400" dirty="0"/>
          </a:p>
        </p:txBody>
      </p:sp>
      <p:sp>
        <p:nvSpPr>
          <p:cNvPr id="3" name="Text 1"/>
          <p:cNvSpPr/>
          <p:nvPr/>
        </p:nvSpPr>
        <p:spPr>
          <a:xfrm>
            <a:off x="320040" y="1005840"/>
            <a:ext cx="8503920" cy="1188720"/>
          </a:xfrm>
          <a:prstGeom prst="rect">
            <a:avLst/>
          </a:prstGeom>
          <a:noFill/>
          <a:ln/>
        </p:spPr>
        <p:txBody>
          <a:bodyPr wrap="square" rtlCol="0" anchor="t"/>
          <a:lstStyle/>
          <a:p>
            <a:pPr indent="0" marL="0">
              <a:buNone/>
            </a:pPr>
            <a:r>
              <a:rPr lang="en-US" sz="1200" b="1" dirty="0">
                <a:solidFill>
                  <a:srgbClr val="2563EB"/>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V. Kukkala et al., 'Advanced Driver-Assistance System (ADAS): A Survey,' IEEE Consumer Electronics Magazine, vol. 7, no 5, pp. 18-25, 2018.
</a:t>
            </a:r>
            <a:pPr indent="0" marL="0">
              <a:buNone/>
            </a:pPr>
            <a:r>
              <a:rPr lang="en-US" sz="1000" i="1" dirty="0">
                <a:solidFill>
                  <a:srgbClr val="64748B"/>
                </a:solidFill>
                <a:latin typeface="Calibri" pitchFamily="34" charset="0"/>
                <a:ea typeface="Calibri" pitchFamily="34" charset="-122"/>
                <a:cs typeface="Calibri" pitchFamily="34" charset="-120"/>
              </a:rPr>
              <a:t>     DOI: 10.1109/MCE.2018.2828440</a:t>
            </a:r>
            <a:endParaRPr lang="en-US" sz="1200" dirty="0"/>
          </a:p>
        </p:txBody>
      </p:sp>
      <p:sp>
        <p:nvSpPr>
          <p:cNvPr id="4" name="Shape 2"/>
          <p:cNvSpPr/>
          <p:nvPr/>
        </p:nvSpPr>
        <p:spPr>
          <a:xfrm>
            <a:off x="320040" y="2212848"/>
            <a:ext cx="8503920" cy="0"/>
          </a:xfrm>
          <a:prstGeom prst="line">
            <a:avLst/>
          </a:prstGeom>
          <a:noFill/>
          <a:ln w="9525">
            <a:solidFill>
              <a:srgbClr val="E2E8F0"/>
            </a:solidFill>
            <a:prstDash val="solid"/>
          </a:ln>
        </p:spPr>
      </p:sp>
      <p:sp>
        <p:nvSpPr>
          <p:cNvPr id="5" name="Text 3"/>
          <p:cNvSpPr/>
          <p:nvPr/>
        </p:nvSpPr>
        <p:spPr>
          <a:xfrm>
            <a:off x="320040" y="2331720"/>
            <a:ext cx="8503920" cy="1188720"/>
          </a:xfrm>
          <a:prstGeom prst="rect">
            <a:avLst/>
          </a:prstGeom>
          <a:noFill/>
          <a:ln/>
        </p:spPr>
        <p:txBody>
          <a:bodyPr wrap="square" rtlCol="0" anchor="t"/>
          <a:lstStyle/>
          <a:p>
            <a:pPr indent="0" marL="0">
              <a:buNone/>
            </a:pPr>
            <a:r>
              <a:rPr lang="en-US" sz="1200" b="1" dirty="0">
                <a:solidFill>
                  <a:srgbClr val="2563EB"/>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J. E. Naranjo et al., 'Cooperative Throttle and Brake Fuzzy Control for ACC+Stop&amp;Go Maneuvers,' Electronics 2020, 9, 551.
</a:t>
            </a:r>
            <a:pPr indent="0" marL="0">
              <a:buNone/>
            </a:pPr>
            <a:r>
              <a:rPr lang="en-US" sz="1000" i="1" dirty="0">
                <a:solidFill>
                  <a:srgbClr val="64748B"/>
                </a:solidFill>
                <a:latin typeface="Calibri" pitchFamily="34" charset="0"/>
                <a:ea typeface="Calibri" pitchFamily="34" charset="-122"/>
                <a:cs typeface="Calibri" pitchFamily="34" charset="-120"/>
              </a:rPr>
              <a:t>     DOI: 10.3390/electronics9040551</a:t>
            </a:r>
            <a:endParaRPr lang="en-US" sz="1200" dirty="0"/>
          </a:p>
        </p:txBody>
      </p:sp>
      <p:sp>
        <p:nvSpPr>
          <p:cNvPr id="6" name="Shape 4"/>
          <p:cNvSpPr/>
          <p:nvPr/>
        </p:nvSpPr>
        <p:spPr>
          <a:xfrm>
            <a:off x="320040" y="3538728"/>
            <a:ext cx="8503920" cy="0"/>
          </a:xfrm>
          <a:prstGeom prst="line">
            <a:avLst/>
          </a:prstGeom>
          <a:noFill/>
          <a:ln w="9525">
            <a:solidFill>
              <a:srgbClr val="E2E8F0"/>
            </a:solidFill>
            <a:prstDash val="solid"/>
          </a:ln>
        </p:spPr>
      </p:sp>
      <p:sp>
        <p:nvSpPr>
          <p:cNvPr id="7" name="Text 5"/>
          <p:cNvSpPr/>
          <p:nvPr/>
        </p:nvSpPr>
        <p:spPr>
          <a:xfrm>
            <a:off x="320040" y="3657600"/>
            <a:ext cx="8503920" cy="1188720"/>
          </a:xfrm>
          <a:prstGeom prst="rect">
            <a:avLst/>
          </a:prstGeom>
          <a:noFill/>
          <a:ln/>
        </p:spPr>
        <p:txBody>
          <a:bodyPr wrap="square" rtlCol="0" anchor="t"/>
          <a:lstStyle/>
          <a:p>
            <a:pPr indent="0" marL="0">
              <a:buNone/>
            </a:pPr>
            <a:r>
              <a:rPr lang="en-US" sz="1200" b="1" dirty="0">
                <a:solidFill>
                  <a:srgbClr val="2563EB"/>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G. Saravanan et al., 'Implementation of PID-Based Adaptive Cruise Control Using Arduino,' ICSSEECC 2024.
</a:t>
            </a:r>
            <a:pPr indent="0" marL="0">
              <a:buNone/>
            </a:pPr>
            <a:r>
              <a:rPr lang="en-US" sz="1000" i="1" dirty="0">
                <a:solidFill>
                  <a:srgbClr val="64748B"/>
                </a:solidFill>
                <a:latin typeface="Calibri" pitchFamily="34" charset="0"/>
                <a:ea typeface="Calibri" pitchFamily="34" charset="-122"/>
                <a:cs typeface="Calibri" pitchFamily="34" charset="-120"/>
              </a:rPr>
              <a:t>     DOI: 10.1109/ICSSEECC61126.2024.10649422</a:t>
            </a:r>
            <a:endParaRPr lang="en-US" sz="1200" dirty="0"/>
          </a:p>
        </p:txBody>
      </p:sp>
      <p:sp>
        <p:nvSpPr>
          <p:cNvPr id="8" name="Shape 6"/>
          <p:cNvSpPr/>
          <p:nvPr/>
        </p:nvSpPr>
        <p:spPr>
          <a:xfrm>
            <a:off x="320040" y="4864608"/>
            <a:ext cx="8503920" cy="0"/>
          </a:xfrm>
          <a:prstGeom prst="line">
            <a:avLst/>
          </a:prstGeom>
          <a:noFill/>
          <a:ln w="9525">
            <a:solidFill>
              <a:srgbClr val="E2E8F0"/>
            </a:solidFill>
            <a:prstDash val="solid"/>
          </a:ln>
        </p:spPr>
      </p:sp>
      <p:sp>
        <p:nvSpPr>
          <p:cNvPr id="9" name="Text 7"/>
          <p:cNvSpPr/>
          <p:nvPr/>
        </p:nvSpPr>
        <p:spPr>
          <a:xfrm>
            <a:off x="320040" y="4983480"/>
            <a:ext cx="8503920" cy="1188720"/>
          </a:xfrm>
          <a:prstGeom prst="rect">
            <a:avLst/>
          </a:prstGeom>
          <a:noFill/>
          <a:ln/>
        </p:spPr>
        <p:txBody>
          <a:bodyPr wrap="square" rtlCol="0" anchor="t"/>
          <a:lstStyle/>
          <a:p>
            <a:pPr indent="0" marL="0">
              <a:buNone/>
            </a:pPr>
            <a:r>
              <a:rPr lang="en-US" sz="1200" b="1" dirty="0">
                <a:solidFill>
                  <a:srgbClr val="2563EB"/>
                </a:solidFill>
                <a:latin typeface="Calibri" pitchFamily="34" charset="0"/>
                <a:ea typeface="Calibri" pitchFamily="34" charset="-122"/>
                <a:cs typeface="Calibri" pitchFamily="34" charset="-120"/>
              </a:rPr>
              <a:t>[4]  </a:t>
            </a:r>
            <a:pPr indent="0" marL="0">
              <a:buNone/>
            </a:pPr>
            <a:r>
              <a:rPr lang="en-US" sz="1100" dirty="0">
                <a:solidFill>
                  <a:srgbClr val="1E293B"/>
                </a:solidFill>
                <a:latin typeface="Calibri" pitchFamily="34" charset="0"/>
                <a:ea typeface="Calibri" pitchFamily="34" charset="-122"/>
                <a:cs typeface="Calibri" pitchFamily="34" charset="-120"/>
              </a:rPr>
              <a:t>Saputro et al., 'Proportional Integral Derivative (PID) Controller Design for Speed Control DC Motor using Arduino Mega,' ICAMIMIA 2023.
</a:t>
            </a:r>
            <a:pPr indent="0" marL="0">
              <a:buNone/>
            </a:pPr>
            <a:r>
              <a:rPr lang="en-US" sz="1000" i="1" dirty="0">
                <a:solidFill>
                  <a:srgbClr val="64748B"/>
                </a:solidFill>
                <a:latin typeface="Calibri" pitchFamily="34" charset="0"/>
                <a:ea typeface="Calibri" pitchFamily="34" charset="-122"/>
                <a:cs typeface="Calibri" pitchFamily="34" charset="-120"/>
              </a:rPr>
              <a:t>     DOI: 10.1109/ICAMIMIA60881.2023.10427856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2026-06-09T09:59:51Z</dcterms:created>
  <dcterms:modified xsi:type="dcterms:W3CDTF">2026-06-09T09:59:51Z</dcterms:modified>
</cp:coreProperties>
</file>