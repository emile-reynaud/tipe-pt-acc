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 de vitesse adaptatif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boucle de rétroaction PID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7432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correcteur (P, PI, PD, PID) associé à une architecture feedforward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le meilleur compromis stabilité / précision pour un régulateur de vitesse adaptatif 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— Thème : Cycles et boucles  |  Filière 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 : ________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560320" cy="4846320"/>
          </a:xfrm>
          <a:prstGeom prst="rect">
            <a:avLst/>
          </a:prstGeom>
          <a:solidFill>
            <a:srgbClr val="172444"/>
          </a:solidFill>
          <a:ln w="25400">
            <a:solidFill>
              <a:srgbClr val="2A3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914400"/>
            <a:ext cx="25603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au thème et problématique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41148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: Cycles et boucles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: mesure → correcteur → actionneur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correction répétés toutes les 50 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de réglage P → PI → PD → PID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343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77240"/>
            <a:ext cx="4343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7772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correcteur (P, PI, PD, PID) associé à une architecture feedforward + PID offre le meilleur compromis stabilité / précision pour une maquette de régulateur de vitesse adaptatif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8686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46120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32461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Schéma-bloc boucle fermée (notation SI)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169664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Vc(t)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m/s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4462272"/>
            <a:ext cx="38404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389888" y="419709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4197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20240" y="446227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920240" y="416966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ε(t)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76272" y="4133088"/>
            <a:ext cx="123444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76272" y="413308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4133088"/>
            <a:ext cx="12801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413308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K/(τs+1)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10712" y="446227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685032" y="419709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4197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15384" y="4462272"/>
            <a:ext cx="29260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950208" y="3547872"/>
            <a:ext cx="0" cy="58521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3273552" y="3218688"/>
            <a:ext cx="1353312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21868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204 PWM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97880" y="4462272"/>
            <a:ext cx="3200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217920" y="4133088"/>
            <a:ext cx="1005840" cy="6583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41330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23760" y="4462272"/>
            <a:ext cx="5943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7845552" y="4315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2440" y="4462272"/>
            <a:ext cx="0" cy="11887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0" y="5650992"/>
            <a:ext cx="64465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0" y="4462272"/>
            <a:ext cx="0" cy="11887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3383280" y="5148072"/>
            <a:ext cx="13716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5148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37360" y="569671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— mesure v(t)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expérimentale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976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77724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 maquette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 d'ensemble)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insérer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51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777240"/>
            <a:ext cx="4251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Zoom électronique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insérer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337560"/>
            <a:ext cx="4251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3337560"/>
            <a:ext cx="42519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333756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712464"/>
            <a:ext cx="4069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Every + shield ASX00061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en H L298N → moteur brushed RC390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ultrason HC-SR04 (distance obstacle)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 + 3 aimants néodyme (vitesse)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microSD → log CSV temps réel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du moteur — Pourquoi et comment 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identifier le moteur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PID seul échoue : à consigne atteinte, ε→0 donc u_PID→0, le moteur s'arrête (zone morte sous 76/255)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→ modèle 1er ordre → U_FF = (Vc/K + seuil)×255 → commande d'équilibre fournie au régulateur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94560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194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1er ordre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· dv/dt + v(t) = K · u(t)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échelon u=U₀ :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 = K·U₀·(1 − e^(−t/τ))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194560"/>
            <a:ext cx="43434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19456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graphique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v∞/U₀  (vitesse de régime / commande)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t tel que v(t) = 63,2 % × v∞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(propriété : 1−e⁻¹ ≈ 0,632)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29768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297680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42976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échelons PWM 40→240, 3 s chacun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v∞ (palier stable) et τ (passage à 63,2%)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v∞/U₀   validé sur tous les échelons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297680"/>
            <a:ext cx="4343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4297680"/>
            <a:ext cx="4343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429768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identifiés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6634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663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32120" y="4736592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46817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m/s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49560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statique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5285232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52852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32120" y="5358384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53035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96128" y="55778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 temps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590702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59070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32120" y="5980176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5925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 → 76/255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96128" y="61996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minimal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62727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U_FF = (0.7/1.4+0.3)×255 = 204 PWM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fréquencemétrique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37490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δ d'impulsions Hall sur T=50 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→ p=πD/N≈0,0873 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(δ/N)×C/T   δ ∈ 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3429000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3429000"/>
            <a:ext cx="37490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34290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7947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Δδ = ±1 → Δv = p/T = constante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0,2608/(3×0,050) ≈ 1,74 m/s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Vc=0,70 m/s : Δv/v = 249 %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Inutilisable seule pour le terme D</a:t>
            </a:r>
            <a:endParaRPr lang="en-US" sz="1250" dirty="0"/>
          </a:p>
        </p:txBody>
      </p:sp>
      <p:pic>
        <p:nvPicPr>
          <p:cNvPr id="13" name="Image 0" descr="/mnt/user-data/uploads/incertitudes_vitesses_fr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438912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60520" y="42611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Δv vs vitesse — méthode fréquencemétrique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période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37490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temps τ entre 2 fronts Hall (ISR)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micros() : 4 µs → Δτ=4 µs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p/τ  avec p=0,0873 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3429000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3429000"/>
            <a:ext cx="374904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34290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7947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≈ v×Δp/p  (terme géométrique dominant)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Δp/p = 2 mm/87,3 mm ≈ 2,3 % relatif constant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v=0,70 m/s : Δv ≈ 0,016 m/s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×155 plus précise que fréquencemétrique</a:t>
            </a:r>
            <a:endParaRPr lang="en-US" sz="1250" dirty="0"/>
          </a:p>
        </p:txBody>
      </p:sp>
      <p:pic>
        <p:nvPicPr>
          <p:cNvPr id="13" name="Image 0" descr="/mnt/user-data/uploads/incertitudes_vitesse_peri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438912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60520" y="42611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Δv vs vitesse — méthode période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régulateur — Feedforward + PID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42062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du PID pur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démarrage : 76/255 — zone morte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régime : ε→0 ⟹ u_PID→0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sous le seuil → roue libre → re-kick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 infinie sans terme constant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2976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777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2-DOF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 = U_FF + Kp·ε + Ki·∫ε dt + Kd·(dε/dt)
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(Vc/K+seuil)×255 = 204 PWM
</a:t>
            </a:r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→ maintient la vitesse de régime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→ corrige les écarts résiduels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8686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383280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33832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Schéma-bloc 2-DOF (notation SI)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4261104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0.7m/s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88720" y="428853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288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19072" y="455371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719072" y="4224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75104" y="4224528"/>
            <a:ext cx="123444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75104" y="42245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9544" y="455371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465576" y="428853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4288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30752" y="3520440"/>
            <a:ext cx="0" cy="70408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054096" y="3218688"/>
            <a:ext cx="137160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32186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U_FF=204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95928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270248" y="4224528"/>
            <a:ext cx="12801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0248" y="422452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K/(τs+1)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0408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824728" y="4224528"/>
            <a:ext cx="960120" cy="6583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24728" y="422452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4553712"/>
            <a:ext cx="64008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7452360" y="44074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4553712"/>
            <a:ext cx="0" cy="11887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53896" y="5742432"/>
            <a:ext cx="6318504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53896" y="4553712"/>
            <a:ext cx="0" cy="11887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3291840" y="5239512"/>
            <a:ext cx="150876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52395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600200" y="578815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— mesure v(t)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 — Résultats expérimentaux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Kp=80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pic>
        <p:nvPicPr>
          <p:cNvPr id="6" name="Image 0" descr="/mnt/user-data/outputs/courbe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 — Analyse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rapide par kick-start (190 PWM → 0,70 m/s en ~0,3 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stable à ~204 PWM en régime sans obstacle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correct de la distance en mode obstacle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résiduelle : vitesse légèrement au-dessus de 0,70 m/s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de ±0,15 m/s entretenues par la zone morte moteur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correction des perturbations lentes (décharge batterie)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statique est structurelle : sans intégrale, le correcteur P ne peut compenser que si ε ≠ 0 en permanence. Le feedforward pallie partiellement ce défaut. Sert de référence pour comparer PI et PD.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 — Résultats expérimentaux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Kp=60  Ki=15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pic>
        <p:nvPicPr>
          <p:cNvPr id="6" name="Image 0" descr="/mnt/user-data/outputs/cour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 — Analyse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nulle en régime établi : Ki=15 élimine le biais résiduel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tenue de la consigne sur durée longue malgré la décharge batterie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automatique des perturbations lentes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légèrement plus marqué à la montée par rapport au 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windup intégral — anti-windup indispensable (gel pendant kick + zone morte)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légèrement plus long qu'en P pur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L'intégrale élimine l'erreur statique au prix d'un dépassement légèrement accru. Ki=15 est significatif (vs Ki=2 négligeable). L'anti-windup multi-niveaux est essentiel pour éviter l'emballement.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PD — Résultats expérimentaux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Kp=80  Kd=8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pic>
        <p:nvPicPr>
          <p:cNvPr id="6" name="Image 0" descr="/mnt/user-data/outputs/courbe_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PD — Analyse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réduit à la montée : Kd=8 anticipe les variations rapides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plus amortie que le P pur — la dérivée freine avant la consigne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 vitesse → mode distance plus douce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maintenue (absence d'intégrale)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Kd=8 amplifie légèrement le bruit Hall — filtre asymétrique nécessaire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Kd=0,5 était négligeable ; Kd=8 est le minimum visible sur ce système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Kd=8 est visible sur la courbe (amortissement à la montée) contrairement à Kd=0,5 qui n'avait aucun effet mesurable. La dérivée est limitée par la quantification Hall (3 aimants → bruit de mesure). Erreur statique persistante sans intégrale.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 — Résultats expérimentaux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Kp=60  Ki=15  Kd=8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pic>
        <p:nvPicPr>
          <p:cNvPr id="6" name="Image 0" descr="/mnt/user-data/outputs/courbe_P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 — Analyse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stabilité parmi les 4 : oscillations les plus régulières et les plus faibles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nulle (Ki=15) avec dépassement réduit (Kd=8)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la plus lisse — rampe asymétrique et anti-windup efficaces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plus complexe — 3 paramètres interdépendants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 sensible au bruit Hall résiduel malgré le filtre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±0,10 m/s résiduelles liées à la zone morte moteur (irréductible)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sur cette maquette. L'architecture FF+PID est indispensable : sans U_FF=204 PWM, le PID pur ne tient pas la consigne. Les oscillations résiduelles sont une limite physique de la zone morte, pas un défaut de réglage.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correcteurs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686800" cy="22860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280160"/>
                <a:gridCol w="1554480"/>
                <a:gridCol w="12801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statique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bruit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~±0,1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Erreur résiduelle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Bon en régime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~±0,1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Erreur résiduelle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Meilleur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200400"/>
            <a:ext cx="8686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320040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3464" y="320040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clé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356616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U_FF=204 PWM indispensable : seuil moteur 76/255 → PID pur donne u→0 quand ε→0 → arrêt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Kd=8 (visible) vs Kd=0,5 (négligeable) — terme D efficace uniquement si Kd×Δv/dt &gt; bruit Hall (Δv_freq=1,74 m/s)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" y="484632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4846320"/>
            <a:ext cx="8686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" y="48463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la comparaison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521208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la charge batterie → U_FF imprécis → biais systématique sur toutes les expériences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Δv_freq=249% à 0,70 m/s — oscillations résiduelles ±0,10 m/s liées à la zone morte (irréductibles sans changer le matériel)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7889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matérielles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14300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Δv_freq=1,74 m/s (249% à 0,70 m/s)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batterie → re-identification nécessaire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: fausses détections en extérieur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morte 76/255 → oscillations irréductibles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777240"/>
            <a:ext cx="278892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7772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Inertie négligée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9544" y="114300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1er ordre : τ·dv/dt+v=K·u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Inertie réelle : J·dω/dt = F·r − f·ω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voiture m≈0,8 kg, r=41,5 mm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J·α ≈ m·r²·α → inertie non nulle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τ_réel &gt; τ_modèle → réponse plus lente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4184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44184" y="777240"/>
            <a:ext cx="27889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7772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14300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aimants → Δv_freq divisé par 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 optique → résolution µm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maquette → obstacle mobile réaliste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auto (K adaptatif)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fonctionnelle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1430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0972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vitesse (0,70 m/s) et distance à obstacle sur voiture RC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moteur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8745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ordre : K=1,4 m/s,  τ=250 ms,  seuil=76/255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269748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651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période ×155 plus précise que fréquencemétrique à 0,70 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2-DOF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47472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34290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U_FF=204 PWM indispensable — PID corrige les écarts résiduels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P/PI/PD/PID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425196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42062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= meilleur compromis ; Kd=8 visible (Kd=0,5 était négligeable)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983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50292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49834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→ cycle de correction répété à chaque période 50 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Bibliographie et annexe code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bibliographiques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9786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V.K. Kukkala, J. Tunnell, S. Pasricha, T. Bradley — "Advanced Driver-Assistance Systems: A Path Toward Autonomous Vehicles" — IEEE Consumer Electronics Magazine, vol. 7, n°5, pp. 18-25, 2018. DOI: 10.1109/MCE.2018.2828440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4942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J.E. Naranjo, F. Serradilla, F. Nashashibi — "Speed Control Optimization for Autonomous Vehicles with Metaheuristics" — Electronics 2020, 9, 551. DOI: 10.3390/electronics9040551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0098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Saravanan G et al. — "Red Panda Optimization Algorithm-Based PID Controller Design for Automobile Cruise Control System" — ICSSEECC 2024. DOI: 10.1109/ICSSEECC61126.2024.10649422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35254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J.S. Saputro et al. — "Design of an Adaptive Cruise Control System using PID Control Method on Electric Vehicle Prototypes" — ICAMIMIA 2023. DOI: 10.1109/ICAMIMIA60881.2023.10427856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5779008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5779008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5779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code Arduino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61081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complets fournis sur support papier en double exemplaire. Modules : hallISR(), calculerVitessePeriode(), calculerCorrecteur() PID, calculerCommandeMoteur() kick+rampe, appliquerCommande() zone morte, lireDistance(), loop().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2026-06-05T14:43:34Z</dcterms:created>
  <dcterms:modified xsi:type="dcterms:W3CDTF">2026-06-05T14:43:34Z</dcterms:modified>
</cp:coreProperties>
</file>