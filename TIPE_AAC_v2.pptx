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4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12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42054"/>
          </a:solidFill>
          <a:ln w="12700">
            <a:solidFill>
              <a:srgbClr val="1420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 de vitesse adaptatif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boucle de rétroaction PID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7432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régulateur de vitesse adaptatif fonctionne-t-il,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comment sa boucle de correction PID se comporte-t-elle 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— Thème : Cycles et boucles  |  Filière 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REYNAUD Emile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candidat : 40296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AC06AD-8437-2CB7-ECAF-B00AB6304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8" t="9949" r="13498" b="22551"/>
          <a:stretch>
            <a:fillRect/>
          </a:stretch>
        </p:blipFill>
        <p:spPr>
          <a:xfrm rot="5400000">
            <a:off x="5219519" y="2008694"/>
            <a:ext cx="4095650" cy="26560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au thème et problématique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: Cycles et boucles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: mesure → correcteur → actionneur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correction répétés toutes les 50 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de réglage P → PI → PD → PID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343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17720" y="7772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09728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adaptatif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fonctionne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-t-il,</a:t>
            </a:r>
            <a:endParaRPr lang="en-US" sz="1200" dirty="0"/>
          </a:p>
          <a:p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et comment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boucle de correction PID se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comporte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-t-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elle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246120"/>
            <a:ext cx="8686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3246120"/>
            <a:ext cx="8686800" cy="292608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Schéma-bloc de la boucle fermée (notation SI)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538728"/>
            <a:ext cx="8686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1148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Vc(t)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 m/s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1560" y="4457700"/>
            <a:ext cx="41148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463040" y="4187952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93392" y="4457700"/>
            <a:ext cx="29260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993392" y="4160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ε(t)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0" y="4114800"/>
            <a:ext cx="1234440" cy="6858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286000" y="41148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20440" y="4457700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794760" y="4187952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794760" y="4187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59936" y="3803904"/>
            <a:ext cx="0" cy="31089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074976" y="38907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25112" y="4457700"/>
            <a:ext cx="32004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325112" y="4160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45152" y="4114800"/>
            <a:ext cx="1234440" cy="685800"/>
          </a:xfrm>
          <a:prstGeom prst="rect">
            <a:avLst/>
          </a:prstGeom>
          <a:solidFill>
            <a:srgbClr val="DCFCE7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645152" y="41148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1er ordre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79592" y="4457700"/>
            <a:ext cx="32004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199632" y="4114800"/>
            <a:ext cx="1005840" cy="6858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199632" y="41148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05472" y="4457700"/>
            <a:ext cx="54864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772400" y="4160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4165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46720" y="4718304"/>
            <a:ext cx="0" cy="92811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1719072" y="5646420"/>
            <a:ext cx="6327648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 flipV="1">
            <a:off x="1731461" y="4672584"/>
            <a:ext cx="2" cy="97383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566160" y="5189220"/>
            <a:ext cx="1371600" cy="50292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566160" y="51892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(méthode période)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28800" y="56921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retour  —  y(t) = v(t) mesurée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59936" y="3566160"/>
            <a:ext cx="0" cy="36576"/>
          </a:xfrm>
          <a:prstGeom prst="line">
            <a:avLst/>
          </a:prstGeom>
          <a:noFill/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383280" y="3531870"/>
            <a:ext cx="137160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383280" y="3531870"/>
            <a:ext cx="1371600" cy="381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= (Vc/K+seuil)×255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expérimentale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3337560"/>
            <a:ext cx="4251960" cy="149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3337560"/>
            <a:ext cx="42519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09160" y="33375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4069080" cy="11707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Every + shield ASX00061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en H L298N → moteur brushed RC390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ultrason HC-SR04 (distance obstacle)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 + 3 aimants néodyme (vitesse)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microSD → log CSV temps réel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39519-0FAB-A74B-4D64-800777BCA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05" t="18042" r="9447" b="11535"/>
          <a:stretch>
            <a:fillRect/>
          </a:stretch>
        </p:blipFill>
        <p:spPr>
          <a:xfrm>
            <a:off x="228600" y="763311"/>
            <a:ext cx="4251960" cy="31564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AEBEEC-15E1-38B2-01E8-F289CB54B3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825"/>
          <a:stretch>
            <a:fillRect/>
          </a:stretch>
        </p:blipFill>
        <p:spPr>
          <a:xfrm>
            <a:off x="382424" y="4024675"/>
            <a:ext cx="3993022" cy="24908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5A50E2-5064-2FA0-6A35-F3B880969D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418"/>
          <a:stretch>
            <a:fillRect/>
          </a:stretch>
        </p:blipFill>
        <p:spPr>
          <a:xfrm>
            <a:off x="4663440" y="868680"/>
            <a:ext cx="4251961" cy="22508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4ED7A0-AA5A-C280-FDAD-D7F8645085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52" t="12471" r="23694" b="40262"/>
          <a:stretch>
            <a:fillRect/>
          </a:stretch>
        </p:blipFill>
        <p:spPr>
          <a:xfrm>
            <a:off x="5321015" y="4970106"/>
            <a:ext cx="2936809" cy="1727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du moteur — Pourquoi et comment 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identifier le moteur 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PID seul échoue si on ne connaît pas la commande d'équilibre U_FF : à consigne atteinte, ε→0 donc u_PID→0, le moteur s'arrête (seuil 180/255)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→ modèle du 1er ordre → calcul automatique de U_FF = f(Vc, K, seuil) → régulation possible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42062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2194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système du 1er ordre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5237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· dv/dt + v(t) = K · u(t)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un échelon u = U₀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090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 = K·U₀·(1 − e^(−t/τ))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343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0" y="2194560"/>
            <a:ext cx="43434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617720" y="219456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graphique de K et 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2523744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v∞ / U₀
</a:t>
            </a: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vitesse de régime ÷ commande normalisée
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  tel que  v(t) = 63,2 % × v∞
</a:t>
            </a: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propriété de l'exponentielle : 1−e⁻¹ ≈ 0,632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703320"/>
            <a:ext cx="4206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3703320"/>
            <a:ext cx="42062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3703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032504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échelons successifs : PWM 40 → 240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3 s / échelon (atteindre v∞)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v∞ : stabilisation (Δv &lt; 5 mm/s sur 400 ms)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τ : 1er passage à 63,2 % de v∞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K = v∞ / U₀  avec U₀ = PWM/255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703320"/>
            <a:ext cx="4343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0" y="3703320"/>
            <a:ext cx="434340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17720" y="37033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conséquences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406908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09160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32120" y="4142232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596128" y="40873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 m/s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96128" y="4361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statique (batterie chargée)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4690872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09160" y="46908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32120" y="4764024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596128" y="47091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116,7 ms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96128" y="49834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de temps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5312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09160" y="531266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32120" y="5385816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596128" y="53309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0,706 → 180/255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96128" y="56052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minimal de démarrage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592531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U_FF = (0.7/9,5 + 0,706)×255 ≈ 199 PWM  (consigne 0.7 m/s)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 — méthode fréquencemétrique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7490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δ d'impulsions Hall sur T = 50 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→ p = πD/N ≈ 0,0873 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(δ/N) × C / T   avec δ ∈ 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3429000"/>
            <a:ext cx="3749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3429000"/>
            <a:ext cx="37490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34290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Δδ = ±1 impulsion → Δv = p/T = constante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0,2608/(3×0,050) ≈ 1,74 m/s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 = 0,70 m/s : Δv/v ≈ 249 %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Inutilisable seule pour le terme 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60520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vs vitesse — méthode fréquencemétrique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A9CE0D-5E78-3E17-E534-778962A25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515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 — méthode période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7490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 temps τ entre 2 fronts Hall consécutifs (ISR)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micros() : 4 µs → Δτ = 4 µs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p / τ  avec p = 0,0873 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3429000"/>
            <a:ext cx="3749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3429000"/>
            <a:ext cx="374904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34290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≈ v × Δp/p  (terme géométrique dominant)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Δp/p = 2 mm / 87,3 mm ≈ 2,3 % — relatif constant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 = 0,70 m/s : Δv ≈ 0,016 m/s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×155 plus précise que la méthode fréquencemétrique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60520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vitesse — méthode période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F0579-CC1E-78B8-8BDF-7109EC488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78408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régulateur — Feedforward + PID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062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du PID pur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023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démarrage : 180/255 — zone morte large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régime : ε→0 ⟹ u_PID→0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sous le seuil → roue libre → arrêt → re-kick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 infinie sans terme constant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4297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architecture 2-DOF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097280"/>
            <a:ext cx="4114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 = U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Kp·ε + Ki·∫ε dt + Kd·(dε/dt)
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= (Vc/K + seuil)×255
     = (0.7/9,5 + 0,706)×255 ≈ 199 PWM
</a:t>
            </a: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→ maintient la vitesse de régime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→ corrige les écarts résiduels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383280"/>
            <a:ext cx="8686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3383280"/>
            <a:ext cx="8686800" cy="292608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33832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Schéma-bloc 2-DOF (Architecture feedforward + correcteur)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4242816"/>
            <a:ext cx="685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m/s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41832" y="4535424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6152" y="4270248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216152" y="4270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46504" y="4535424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73736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0824" y="4206240"/>
            <a:ext cx="123444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020824" y="420624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55264" y="4535424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511296" y="4270248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511296" y="4270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76472" y="3845052"/>
            <a:ext cx="0" cy="3611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098705" y="3671317"/>
            <a:ext cx="137160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121565" y="3671317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= 199 PWM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41648" y="4535424"/>
            <a:ext cx="30175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041648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4206240"/>
            <a:ext cx="1280160" cy="658368"/>
          </a:xfrm>
          <a:prstGeom prst="rect">
            <a:avLst/>
          </a:prstGeom>
          <a:solidFill>
            <a:srgbClr val="DCFCE7"/>
          </a:solidFill>
          <a:ln w="19050">
            <a:solidFill>
              <a:srgbClr val="0F766E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343400" y="42062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K/(τp+1)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23560" y="4535424"/>
            <a:ext cx="30175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925312" y="4206240"/>
            <a:ext cx="1005840" cy="6583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925312" y="42062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31152" y="4535424"/>
            <a:ext cx="64008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589520" y="44074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4681728"/>
            <a:ext cx="0" cy="108813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1481328" y="5769864"/>
            <a:ext cx="638251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 flipH="1" flipV="1">
            <a:off x="1481327" y="4828032"/>
            <a:ext cx="2908" cy="94183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337560" y="5221224"/>
            <a:ext cx="1554480" cy="50292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337560" y="52212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(méthode période)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45920" y="57972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retour — mesure v(t)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  (Kp=35) — résultats expérimentaux (Vc = 0.7 m/s)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pic>
        <p:nvPicPr>
          <p:cNvPr id="5" name="Image 0" descr="/mnt/user-data/uploads/courbes_exp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5394960" cy="3263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077555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expérimentales — vitesse / distance / erreur / commande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77724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60720" y="777240"/>
            <a:ext cx="3154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806440" y="7772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33872" y="1097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rapide — kick-start efficace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stable ~195 PWM en régime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Freinage d'urgence bien déclenché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69748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760720" y="2697480"/>
            <a:ext cx="3154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806440" y="26974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30175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résiduelle : vitesse oscille ±0,3 m/s autour de 0,7 m/s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entretenues — absence du terme intégral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correction des perturbations lentes (décharge batterie)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4617720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760720" y="4617720"/>
            <a:ext cx="3154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806440" y="46177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33872" y="4956048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statique est structurelle : sans intégrale, le correcteur P ne peut compenser que si ε ≠ 0 en permanence. Point de référence pour PI et PD.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  (Kp=35  Ki=2) — résultats expérimentaux (Vc = 0.7 m/s)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pic>
        <p:nvPicPr>
          <p:cNvPr id="5" name="Image 0" descr="/mnt/user-data/uploads/courbes_exp_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5394960" cy="3263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077555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expérimentales — vitesse / distance / erreur / commande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77724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60720" y="777240"/>
            <a:ext cx="3154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806440" y="7772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33872" y="1097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réduite par rapport au P pur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des dérives lentes (batterie)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tenue de la consigne en régime établi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69748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760720" y="2697480"/>
            <a:ext cx="3154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806440" y="26974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30175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plus marqué à la montée (~1,0 m/s)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windup — gel intégrale indispensable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légèrement plus long que 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4617720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760720" y="4617720"/>
            <a:ext cx="3154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806440" y="46177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33872" y="4956048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L'intégrale élimine l'erreur statique mais introduit un dépassement. L'anti-windup (gel pendant kick + zone morte 178 PWM) est essentiel pour éviter l'emballement.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PD  (Kp=35  Kd=0,5) — résultats expérimentaux (Vc = 0.7 m/s)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5" name="Image 0" descr="/mnt/user-data/uploads/courbes_exp_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5394960" cy="3263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077555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expérimentales — vitesse / distance / erreur / commande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77724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60720" y="777240"/>
            <a:ext cx="3154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806440" y="7772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33872" y="1097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réduit à la montée par rapport à 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anticipation des variations rapides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plus amortie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69748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760720" y="2697480"/>
            <a:ext cx="3154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806440" y="26974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30175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maintenue (pas d'intégrale)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limité à 0,5 : 3 aimants → signal quantifié bruité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Hall amplifié si Kd trop grand (Δv_freq = 1,74 m/s)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4617720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760720" y="4617720"/>
            <a:ext cx="3154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806440" y="46177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33872" y="4956048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terme D est limité par la quantification Hall (3 aimants). Son bénéfice reste faible ici. La méthode période (filtre asymétrique) le rend utilisable mais au minimum.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  (Kp=35  Ki=2  Kd=0,5) — résultats expérimentaux (Vc = 0.7 m/s)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5" name="Image 0" descr="/mnt/user-data/uploads/courbes_exp_P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5394960" cy="3263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077555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expérimentales — vitesse / distance / erreur / commande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77724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60720" y="777240"/>
            <a:ext cx="3154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806440" y="7772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33872" y="1097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stabilité observée parmi les 4 correcteurs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statique réduite (intégrale active)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±0,2 m/s — amplitude moindre qu'en 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697480"/>
            <a:ext cx="3154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760720" y="2697480"/>
            <a:ext cx="3154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806440" y="26974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30175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plus délicat — 3 paramètres interdépendants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 toujours sensible au bruit Hall résiduel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persistent à cause du filtre Hall asymétrique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4617720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760720" y="4617720"/>
            <a:ext cx="3154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806440" y="46177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33872" y="4956048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sur cette maquette. L'architecture FF+PID est indispensable : sans U_FF, le PID seul ne tient pas la consigne (seuil moteur 180/255).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correcteurs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04672"/>
          <a:ext cx="8321040" cy="23317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statique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Dépassement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bruit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~±0,3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Erreur résiduelle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~±0,1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Bon en régime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~±0,3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Bruit amplifié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~±0,2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Meilleur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246120"/>
            <a:ext cx="8686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28600" y="3246120"/>
            <a:ext cx="86868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clé : nécessité du feedforward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" y="3566160"/>
            <a:ext cx="8503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U_FF ≈ 199 PWM indispensable : seuil moteur à 180/255 → PID pur donne u→0 quand ε→0 → arrêt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 limité par quantification Hall (3 aimants → Δv_freq = 1,74 m/s) — filtrage asymétrique (α↑=0,25 / α↓=0,85) nécessaire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8600" y="4846320"/>
            <a:ext cx="8686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28600" y="4846320"/>
            <a:ext cx="86868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la comparaison</a:t>
            </a:r>
            <a:endParaRPr lang="en-US" sz="1050" dirty="0"/>
          </a:p>
        </p:txBody>
      </p:sp>
      <p:sp>
        <p:nvSpPr>
          <p:cNvPr id="5" name="Text 10"/>
          <p:cNvSpPr/>
          <p:nvPr/>
        </p:nvSpPr>
        <p:spPr>
          <a:xfrm>
            <a:off x="320040" y="516636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varie avec la charge batterie (5,77 identifié → 9,5 en test) → U_FF imprécis → écart systématique entre simulation et réalité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: Δv_période = 2,3 % relative,  Δv_fréq = 249 % à 0,70 m/s — conditions de test non strictement identiques entre correcteurs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matérielles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" y="1097280"/>
            <a:ext cx="26517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: Δv_freq = 1,74 m/s (249 % à 0,70 m/s)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varie avec batterie : re-identification nécessaire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: fausses détections en extérieur (sol, angle)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: seuil 180/255 → zone morte large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6392" y="777240"/>
            <a:ext cx="278892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36392" y="777240"/>
            <a:ext cx="2788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182112" y="777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algorithmiques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9544" y="1097280"/>
            <a:ext cx="26517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±0,2 m/s résiduelles (filtre Hall)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Anti-windup multi-niveaux requis (kick + zone morte)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1er ordre : non-linéarités non captées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dépendant de la batterie → U_FF approximatif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44184" y="777240"/>
            <a:ext cx="2788920" cy="58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44184" y="777240"/>
            <a:ext cx="27889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89904" y="777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17336" y="1097280"/>
            <a:ext cx="265176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aimants → Δv_freq divisé par 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 optique → résolution µm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maquette → obstacle mobile réaliste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 automatique (K auto)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période seule en régime (déjà codée)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42054"/>
          </a:solidFill>
          <a:ln w="12700">
            <a:solidFill>
              <a:srgbClr val="1420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fonctionnelle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14300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127248" y="10972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vitesse (0,70 m/s) et distance obstacle sur voiture 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moteur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27248" y="18745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ordre : K=9,5 m/s,  τ=117 ms,  seuil=0,706 (180/255)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69748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27248" y="2651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période ×155 plus précise que fréquencemétrique à 0,70 m/s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2-DOF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47472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127248" y="34290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U_FF≈199 PWM indispensable — PID corrige les écarts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P/PI/PD/PID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425196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127248" y="42062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= meilleur compromis ; terme D limité par bruit quantification Hall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" y="4983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502920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27248" y="49834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→ cycle de correction à chaque période 50 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Bibliographie et annexe code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bibliographiques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V.K. Kukkala, J. Tunnell, S. Pasricha, T. Bradley — "Advanced Driver-Assistance Systems: A Path Toward Autonomous Vehicles" — IEEE Consumer Electronics Magazine, vol. 7, n°5, pp. 18-25, 2018. DOI: 10.1109/MCE.2018.2828440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J.E. Naranjo, F. Serradilla, F. Nashashibi — "Speed Control Optimization for Autonomous Vehicles with Metaheuristics" — Electronics 2020, 9, 551. DOI: 10.3390/electronics9040551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330098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Saravanan G et al. — "Red Panda Optimization Algorithm-Based PID Controller Design for Automobile Cruise Control System" — ICSSEECC 2024. DOI: 10.1109/ICSSEECC61126.2024.10649422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435254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J.S. Saputro et al. — "Design of an Adaptive Cruise Control System using PID Control Method on Electric Vehicle Prototypes" — ICAMIMIA 2023. DOI: 10.1109/ICAMIMIA60881.2023.10427856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5779008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28600" y="5779008"/>
            <a:ext cx="8686800" cy="292608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57790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code Arduino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61081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complets fournis sur support papier en double </a:t>
            </a:r>
            <a:r>
              <a:rPr lang="en-US" sz="900" i="1" dirty="0" err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exemplaire</a:t>
            </a: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Modules principaux : ISR Hall, calculerVitessePeriode(), calculerCorrecteur() PID, calculerCommandeMoteur(), appliquerCommande(), lireDistance(), loop().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2033</Words>
  <Application>Microsoft Macintosh PowerPoint</Application>
  <PresentationFormat>On-screen Show (4:3)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TIPE AAC — Régulateur de vitesse adaptatif</dc:title>
  <dc:subject>PptxGenJS Presentation</dc:subject>
  <dc:creator>PptxGenJS</dc:creator>
  <cp:lastModifiedBy>Emile Reynaud</cp:lastModifiedBy>
  <cp:revision>2</cp:revision>
  <dcterms:created xsi:type="dcterms:W3CDTF">2026-05-28T20:15:06Z</dcterms:created>
  <dcterms:modified xsi:type="dcterms:W3CDTF">2026-05-29T08:35:35Z</dcterms:modified>
</cp:coreProperties>
</file>