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62" r:id="rId3"/>
    <p:sldId id="264" r:id="rId4"/>
    <p:sldId id="263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4"/>
    <p:restoredTop sz="94680"/>
  </p:normalViewPr>
  <p:slideViewPr>
    <p:cSldViewPr snapToGrid="0">
      <p:cViewPr varScale="1">
        <p:scale>
          <a:sx n="183" d="100"/>
          <a:sy n="183" d="100"/>
        </p:scale>
        <p:origin x="23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6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4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73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59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20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52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2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66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5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37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27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84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6E193B-82EE-E360-5877-4DDB25350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"/>
                    </a14:imgEffect>
                  </a14:imgLayer>
                </a14:imgProps>
              </a:ext>
            </a:extLst>
          </a:blip>
          <a:srcRect t="4955" b="4955"/>
          <a:stretch/>
        </p:blipFill>
        <p:spPr>
          <a:xfrm>
            <a:off x="0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4444" y="1066800"/>
            <a:ext cx="4682990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02BB2-0BCE-D0DC-0E47-3091B9FB0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818" y="1562101"/>
            <a:ext cx="3905203" cy="2738530"/>
          </a:xfrm>
        </p:spPr>
        <p:txBody>
          <a:bodyPr anchor="t">
            <a:noAutofit/>
          </a:bodyPr>
          <a:lstStyle/>
          <a:p>
            <a:r>
              <a:rPr lang="fr-FR" sz="3900" dirty="0"/>
              <a:t>Régulateur de vitesse adaptatif et boucle de rétroaction PID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2AA86-5B58-0F71-A31D-192A4E92D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817" y="4220522"/>
            <a:ext cx="3816351" cy="1150819"/>
          </a:xfrm>
        </p:spPr>
        <p:txBody>
          <a:bodyPr>
            <a:normAutofit fontScale="55000" lnSpcReduction="20000"/>
          </a:bodyPr>
          <a:lstStyle/>
          <a:p>
            <a:r>
              <a:rPr lang="fr-FR" dirty="0"/>
              <a:t>Problématique :</a:t>
            </a:r>
          </a:p>
          <a:p>
            <a:r>
              <a:rPr lang="fr-FR" dirty="0"/>
              <a:t>Comment un régulateur de vitesse adaptatif fonctionne-t-il et comment sa boucle de correction se comporte-t-elle 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0800000" flipV="1">
            <a:off x="305077" y="1063752"/>
            <a:ext cx="0" cy="472744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1262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02A0B-BF7E-9C16-E4F2-CA9EBF8DF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1B1D9-6134-BDB1-5DC7-04D3F5E5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Ancrage au thème “Cycles et boucles“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FDC09-CAF8-C5FD-7112-6DE999F15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Étude de la </a:t>
            </a:r>
            <a:r>
              <a:rPr lang="fr-FR" b="1" u="sng" dirty="0"/>
              <a:t>boucle</a:t>
            </a:r>
            <a:r>
              <a:rPr lang="fr-FR" dirty="0"/>
              <a:t> de correction d’un régulateur de vitesse adaptatif</a:t>
            </a:r>
          </a:p>
        </p:txBody>
      </p:sp>
    </p:spTree>
    <p:extLst>
      <p:ext uri="{BB962C8B-B14F-4D97-AF65-F5344CB8AC3E}">
        <p14:creationId xmlns:p14="http://schemas.microsoft.com/office/powerpoint/2010/main" val="3820700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AED52F-38C4-1C52-EEEB-3F880E571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70" y="1171145"/>
            <a:ext cx="10168106" cy="9555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/>
              <a:t>Maquette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CE0D2A5-C167-FB61-F32A-674B344F2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914400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remote control car on a table&#10;&#10;AI-generated content may be incorrect.">
            <a:extLst>
              <a:ext uri="{FF2B5EF4-FFF2-40B4-BE49-F238E27FC236}">
                <a16:creationId xmlns:a16="http://schemas.microsoft.com/office/drawing/2014/main" id="{8419EBE4-E45F-B215-9712-F39A15E94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571278" y="2886923"/>
            <a:ext cx="4399468" cy="3299601"/>
          </a:xfrm>
          <a:prstGeom prst="rect">
            <a:avLst/>
          </a:prstGeom>
        </p:spPr>
      </p:pic>
      <p:pic>
        <p:nvPicPr>
          <p:cNvPr id="7" name="Picture 6" descr="A remote control car on a table&#10;&#10;AI-generated content may be incorrect.">
            <a:extLst>
              <a:ext uri="{FF2B5EF4-FFF2-40B4-BE49-F238E27FC236}">
                <a16:creationId xmlns:a16="http://schemas.microsoft.com/office/drawing/2014/main" id="{156C11B2-6C9A-8984-D228-1FB0B87D4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182500" y="2886923"/>
            <a:ext cx="4399468" cy="329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100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97C66-DECC-9B9B-6C7E-D269917EF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71C24-26D6-7DBA-2B6B-717D69E99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Expériences prévues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94A40-3750-F289-4967-DC69FCA4D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Protocole : vitesse fixée à 5 km/h, une planche mobile sera placée devant la maquette</a:t>
            </a:r>
          </a:p>
          <a:p>
            <a:pPr marL="0" indent="0">
              <a:buNone/>
            </a:pPr>
            <a:r>
              <a:rPr lang="fr-FR" dirty="0"/>
              <a:t>Expériences :</a:t>
            </a:r>
          </a:p>
          <a:p>
            <a:r>
              <a:rPr lang="fr-FR" dirty="0"/>
              <a:t>Test de la maquette avec un correcteur Proportionnel</a:t>
            </a:r>
          </a:p>
          <a:p>
            <a:r>
              <a:rPr lang="fr-FR" dirty="0"/>
              <a:t>Idem avec un correcteur Proportionnel Intégral (PI)</a:t>
            </a:r>
          </a:p>
          <a:p>
            <a:r>
              <a:rPr lang="fr-FR" dirty="0"/>
              <a:t>Idem avec un correcteur Proportionnel Dérivé (PD)</a:t>
            </a:r>
          </a:p>
          <a:p>
            <a:r>
              <a:rPr lang="fr-FR" dirty="0"/>
              <a:t>Idem avec un correcteur Proportionnel Intégral Dérivé (PID)</a:t>
            </a:r>
          </a:p>
        </p:txBody>
      </p:sp>
    </p:spTree>
    <p:extLst>
      <p:ext uri="{BB962C8B-B14F-4D97-AF65-F5344CB8AC3E}">
        <p14:creationId xmlns:p14="http://schemas.microsoft.com/office/powerpoint/2010/main" val="3653711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65AD-17C0-4327-E945-BE84F87C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Bibliographie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437A1-087B-C523-67EB-084C30C36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i="1" dirty="0"/>
              <a:t>Advanced Driver-Assistance </a:t>
            </a:r>
            <a:r>
              <a:rPr lang="fr-FR" i="1" dirty="0" err="1"/>
              <a:t>Systems</a:t>
            </a:r>
            <a:r>
              <a:rPr lang="fr-FR" i="1" dirty="0"/>
              <a:t>: A </a:t>
            </a:r>
            <a:r>
              <a:rPr lang="fr-FR" i="1" dirty="0" err="1"/>
              <a:t>path</a:t>
            </a:r>
            <a:r>
              <a:rPr lang="fr-FR" i="1" dirty="0"/>
              <a:t> </a:t>
            </a:r>
            <a:r>
              <a:rPr lang="fr-FR" i="1" dirty="0" err="1"/>
              <a:t>toward</a:t>
            </a:r>
            <a:r>
              <a:rPr lang="fr-FR" i="1" dirty="0"/>
              <a:t> </a:t>
            </a:r>
            <a:r>
              <a:rPr lang="fr-FR" i="1" dirty="0" err="1"/>
              <a:t>autonomous</a:t>
            </a:r>
            <a:r>
              <a:rPr lang="fr-FR" i="1" dirty="0"/>
              <a:t> </a:t>
            </a:r>
            <a:r>
              <a:rPr lang="fr-FR" i="1" dirty="0" err="1"/>
              <a:t>vehicles</a:t>
            </a:r>
            <a:r>
              <a:rPr lang="fr-FR" i="1" dirty="0"/>
              <a:t>. </a:t>
            </a:r>
            <a:r>
              <a:rPr lang="fr-FR" sz="1600" i="1" dirty="0"/>
              <a:t>(</a:t>
            </a:r>
            <a:r>
              <a:rPr lang="fr-FR" sz="1600" dirty="0"/>
              <a:t>Vipin Kumar </a:t>
            </a:r>
            <a:r>
              <a:rPr lang="fr-FR" sz="1600" dirty="0" err="1"/>
              <a:t>Kukkala</a:t>
            </a:r>
            <a:r>
              <a:rPr lang="fr-FR" sz="1600" dirty="0"/>
              <a:t>, Jordan </a:t>
            </a:r>
            <a:r>
              <a:rPr lang="fr-FR" sz="1600" dirty="0" err="1"/>
              <a:t>Tunnell</a:t>
            </a:r>
            <a:r>
              <a:rPr lang="fr-FR" sz="1600" dirty="0"/>
              <a:t>, </a:t>
            </a:r>
            <a:r>
              <a:rPr lang="fr-FR" sz="1600" dirty="0" err="1"/>
              <a:t>Sudeep</a:t>
            </a:r>
            <a:r>
              <a:rPr lang="fr-FR" sz="1600" dirty="0"/>
              <a:t> </a:t>
            </a:r>
            <a:r>
              <a:rPr lang="fr-FR" sz="1600" dirty="0" err="1"/>
              <a:t>Pasricha</a:t>
            </a:r>
            <a:r>
              <a:rPr lang="fr-FR" sz="1600" dirty="0"/>
              <a:t>, Thomas Bradley)</a:t>
            </a:r>
          </a:p>
          <a:p>
            <a:r>
              <a:rPr lang="fr-FR" i="1" dirty="0"/>
              <a:t>DESIGN OF AN ADAPTIVE CRUISE CONTROL SYSTEM USING PID CONTROL METHOD ON ELECTRIC VEHICLE PROTOTYPES </a:t>
            </a:r>
            <a:r>
              <a:rPr lang="fr-FR" sz="1600" dirty="0"/>
              <a:t>(</a:t>
            </a:r>
            <a:r>
              <a:rPr lang="fr-FR" sz="1600" dirty="0" err="1"/>
              <a:t>Joko</a:t>
            </a:r>
            <a:r>
              <a:rPr lang="fr-FR" sz="1600" dirty="0"/>
              <a:t> </a:t>
            </a:r>
            <a:r>
              <a:rPr lang="fr-FR" sz="1600" dirty="0" err="1"/>
              <a:t>Slamet</a:t>
            </a:r>
            <a:r>
              <a:rPr lang="fr-FR" sz="1600" dirty="0"/>
              <a:t> </a:t>
            </a:r>
            <a:r>
              <a:rPr lang="fr-FR" sz="1600" dirty="0" err="1"/>
              <a:t>Saputro</a:t>
            </a:r>
            <a:r>
              <a:rPr lang="fr-FR" sz="1600" dirty="0"/>
              <a:t>, M. </a:t>
            </a:r>
            <a:r>
              <a:rPr lang="fr-FR" sz="1600" dirty="0" err="1"/>
              <a:t>Shafiy</a:t>
            </a:r>
            <a:r>
              <a:rPr lang="fr-FR" sz="1600" dirty="0"/>
              <a:t> </a:t>
            </a:r>
            <a:r>
              <a:rPr lang="fr-FR" sz="1600" dirty="0" err="1"/>
              <a:t>Widi</a:t>
            </a:r>
            <a:r>
              <a:rPr lang="fr-FR" sz="1600" dirty="0"/>
              <a:t> </a:t>
            </a:r>
            <a:r>
              <a:rPr lang="fr-FR" sz="1600" dirty="0" err="1"/>
              <a:t>Kresno</a:t>
            </a:r>
            <a:r>
              <a:rPr lang="fr-FR" sz="1600" dirty="0"/>
              <a:t> </a:t>
            </a:r>
            <a:r>
              <a:rPr lang="fr-FR" sz="1600" dirty="0" err="1"/>
              <a:t>Wibisono</a:t>
            </a:r>
            <a:r>
              <a:rPr lang="fr-FR" sz="1600" dirty="0"/>
              <a:t>, </a:t>
            </a:r>
            <a:r>
              <a:rPr lang="fr-FR" sz="1600" dirty="0" err="1"/>
              <a:t>Joko</a:t>
            </a:r>
            <a:r>
              <a:rPr lang="fr-FR" sz="1600" dirty="0"/>
              <a:t> </a:t>
            </a:r>
            <a:r>
              <a:rPr lang="fr-FR" sz="1600" dirty="0" err="1"/>
              <a:t>Hariyono</a:t>
            </a:r>
            <a:r>
              <a:rPr lang="fr-FR" sz="1600" dirty="0"/>
              <a:t>, </a:t>
            </a:r>
            <a:r>
              <a:rPr lang="fr-FR" sz="1600" dirty="0" err="1"/>
              <a:t>Miftahul</a:t>
            </a:r>
            <a:r>
              <a:rPr lang="fr-FR" sz="1600" dirty="0"/>
              <a:t> Anwar, </a:t>
            </a:r>
            <a:r>
              <a:rPr lang="fr-FR" sz="1600" dirty="0" err="1"/>
              <a:t>Warindi</a:t>
            </a:r>
            <a:r>
              <a:rPr lang="fr-FR" sz="1600" dirty="0"/>
              <a:t>)</a:t>
            </a:r>
          </a:p>
          <a:p>
            <a:r>
              <a:rPr lang="fr-FR" i="1" dirty="0"/>
              <a:t>Red Panda </a:t>
            </a:r>
            <a:r>
              <a:rPr lang="fr-FR" i="1" dirty="0" err="1"/>
              <a:t>Optimization</a:t>
            </a:r>
            <a:r>
              <a:rPr lang="fr-FR" i="1" dirty="0"/>
              <a:t> </a:t>
            </a:r>
            <a:r>
              <a:rPr lang="fr-FR" i="1" dirty="0" err="1"/>
              <a:t>Algorithm-Based</a:t>
            </a:r>
            <a:r>
              <a:rPr lang="fr-FR" i="1" dirty="0"/>
              <a:t> PID Controller Design for Automobile Cruise Control System </a:t>
            </a:r>
            <a:r>
              <a:rPr lang="fr-FR" sz="1600" dirty="0"/>
              <a:t>(Saravanan G, </a:t>
            </a:r>
            <a:r>
              <a:rPr lang="fr-FR" sz="1600" dirty="0" err="1"/>
              <a:t>Pazhanimuthu</a:t>
            </a:r>
            <a:r>
              <a:rPr lang="fr-FR" sz="1600" dirty="0"/>
              <a:t> C, </a:t>
            </a:r>
            <a:r>
              <a:rPr lang="fr-FR" sz="1600" dirty="0" err="1"/>
              <a:t>Sathish</a:t>
            </a:r>
            <a:r>
              <a:rPr lang="fr-FR" sz="1600" dirty="0"/>
              <a:t> Kumar D, Lalitha B, </a:t>
            </a:r>
            <a:r>
              <a:rPr lang="fr-FR" sz="1600" dirty="0" err="1"/>
              <a:t>Senthilkumar</a:t>
            </a:r>
            <a:r>
              <a:rPr lang="fr-FR" sz="1600" dirty="0"/>
              <a:t> M, Kannan E)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5984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F014-DFA9-105A-4315-0DC8D4655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49A53-B2A5-EE77-52AD-645F99704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Ajouter une deuxième maquette, qui sera placée devant la maquette équipée du régulateur, pour améliorer le modèle. </a:t>
            </a:r>
          </a:p>
        </p:txBody>
      </p:sp>
    </p:spTree>
    <p:extLst>
      <p:ext uri="{BB962C8B-B14F-4D97-AF65-F5344CB8AC3E}">
        <p14:creationId xmlns:p14="http://schemas.microsoft.com/office/powerpoint/2010/main" val="400304521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218</Words>
  <Application>Microsoft Macintosh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Grandview Display</vt:lpstr>
      <vt:lpstr>DashVTI</vt:lpstr>
      <vt:lpstr>Régulateur de vitesse adaptatif et boucle de rétroaction PID</vt:lpstr>
      <vt:lpstr>Ancrage au thème “Cycles et boucles“</vt:lpstr>
      <vt:lpstr>Maquette</vt:lpstr>
      <vt:lpstr>Expériences prévues</vt:lpstr>
      <vt:lpstr>Bibliographie</vt:lpstr>
      <vt:lpstr>Perspectives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Emile Reynaud</dc:creator>
  <cp:lastModifiedBy>Emile Reynaud</cp:lastModifiedBy>
  <cp:revision>4</cp:revision>
  <dcterms:created xsi:type="dcterms:W3CDTF">2025-05-30T16:25:04Z</dcterms:created>
  <dcterms:modified xsi:type="dcterms:W3CDTF">2025-11-06T20:32:47Z</dcterms:modified>
</cp:coreProperties>
</file>